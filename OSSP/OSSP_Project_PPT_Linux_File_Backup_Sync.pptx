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
  </p:notesMasterIdLst>
  <p:sldIdLst>
    <p:sldId id="256" r:id="rId2"/>
    <p:sldId id="257" r:id="rId3"/>
    <p:sldId id="264" r:id="rId4"/>
    <p:sldId id="269" r:id="rId5"/>
    <p:sldId id="259" r:id="rId6"/>
    <p:sldId id="266" r:id="rId7"/>
    <p:sldId id="270" r:id="rId14"/>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2EB46A-26D9-4B79-A0BA-94F0685D32D0}"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0B1D7-2D89-41AD-A35D-8CABD3C8F5C7}" type="slidenum">
              <a:rPr lang="en-US" smtClean="0"/>
              <a:t>‹#›</a:t>
            </a:fld>
            <a:endParaRPr lang="en-US"/>
          </a:p>
        </p:txBody>
      </p:sp>
    </p:spTree>
    <p:extLst>
      <p:ext uri="{BB962C8B-B14F-4D97-AF65-F5344CB8AC3E}">
        <p14:creationId xmlns:p14="http://schemas.microsoft.com/office/powerpoint/2010/main" val="1948375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everyone. We are Team 12 from Section 22. Our project for Operating System and System Programming is a Linux File Backup and Synchronization System built using system calls, done under the guidance of Raghupathi 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outline of today's presentation: the abstract, a short introduction, the hardware and software requirements, the system architecture, and finally the conclusion with future scope.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backups are repetitive and error-prone, so we built a backup and synchronization tool in C that works directly at the system-call level. It scans the source directory, compares file size and modification time using stat(), and copies only new or changed files with open(), read(), write() and close(). Errors are reported without stopping the run, and a summary is shown at the end. The side goal is to show how user-space programs interact with the Linux kernel.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file operation on Linux goes through system calls, the controlled interface between user space and the kernel. Backups matter because a single copy of important data is fragile. Building at the system-call level makes OS concepts concrete. Our four objectives: build the tool in C using system calls, copy files safely through file descriptors, detect and sync changed files using metadata, and demonstrate permissions and user/kernel-space interaction.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Hardware is modest: any x86_64 or ARM64 machine running Linux, at least 2 GB RAM and 1 GB free disk, plus a source and a backup location. On the software side we use Ubuntu or any Linux distribution with kernel 5.x or later, GCC with C99 or later, VS Code or Vim, Git and GitHub for version control, and Make as an optional build tool.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diagram from top to bottom. The CLI application handles arguments and reporting. The core logic layer scans directories, compares metadata and decides what to copy. The system call layer, highlighted in red, is the heart of the project: open, read, write, close, stat, opendir and readdir. Those calls cross into kernel space, where the Linux kernel performs the actual file I/O, permission checks and scheduling on the filesystem, keeping the source and backup directories in sync.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project delivers a working Linux backup and synchronization tool built entirely on POSIX system calls. It copies only changed files and handles errors gracefully, meeting all our objectives. For future scope we can add two-way sync, multi-threading, compression and encryption, and a GUI front-end.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 are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7E520A89-1EA5-4B48-949C-8D49FA71E17A}" type="datetime1">
              <a:rPr lang="en-US" smtClean="0"/>
              <a:t>9/1/2026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A0E909-4676-4DFF-ACF3-65FD721A0C35}" type="datetime1">
              <a:rPr lang="en-US" smtClean="0"/>
              <a:t>9/1/2026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3A0D50A7-FC51-45F0-ACE8-52BE692F1158}" type="datetime1">
              <a:rPr lang="en-US" smtClean="0"/>
              <a:t>9/1/2026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66EF69A-9B98-48A6-8714-D502F21C59AC}" type="datetime1">
              <a:rPr lang="en-US" smtClean="0"/>
              <a:t>9/1/2026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F68901D-AE11-453B-BAB5-EBEBF3FD6D52}" type="datetime1">
              <a:rPr lang="en-US" smtClean="0"/>
              <a:t>9/1/2026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6EFD338-D2AE-4808-B786-CD8FFD22129C}" type="datetime1">
              <a:rPr lang="en-US" smtClean="0"/>
              <a:t>9/1/2026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9C5FCE24-E184-4609-AA44-1D31475DE58F}" type="datetime1">
              <a:rPr lang="en-US" smtClean="0"/>
              <a:t>9/1/2026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D2F83FF-62C9-4D61-84C4-3D92576553DA}" type="datetime1">
              <a:rPr lang="en-US" smtClean="0"/>
              <a:t>9/1/2026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C872C22-043C-453D-BC8F-50D3C2C8D791}" type="datetime1">
              <a:rPr lang="en-US" smtClean="0"/>
              <a:t>9/1/2026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20F6FA3-7D56-4F82-BC8C-4558DAB8F5A1}" type="datetime1">
              <a:rPr lang="en-US" smtClean="0"/>
              <a:t>9/1/2026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9966328A-B452-492B-B140-676AC5719AC5}" type="datetime1">
              <a:rPr lang="en-US" smtClean="0"/>
              <a:t>9/1/2026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con_FiLayers.png"/><Relationship Id="rId3" Type="http://schemas.openxmlformats.org/officeDocument/2006/relationships/image" Target="../media/icon_FiShield.png"/><Relationship Id="rId4" Type="http://schemas.openxmlformats.org/officeDocument/2006/relationships/image" Target="../media/icon_FiCode.png"/><Relationship Id="rId5" Type="http://schemas.openxmlformats.org/officeDocument/2006/relationships/image" Target="../media/icon_FiCheck.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con_FiMonitor.png"/><Relationship Id="rId3" Type="http://schemas.openxmlformats.org/officeDocument/2006/relationships/image" Target="../media/icon_FiSettings.png"/><Relationship Id="rId4" Type="http://schemas.openxmlformats.org/officeDocument/2006/relationships/image" Target="../media/icon_FiTerminal.png"/><Relationship Id="rId5" Type="http://schemas.openxmlformats.org/officeDocument/2006/relationships/image" Target="../media/icon_FiCpu.png"/><Relationship Id="rId6" Type="http://schemas.openxmlformats.org/officeDocument/2006/relationships/image" Target="../media/icon_FiDatabase.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con_FiFlag.png"/><Relationship Id="rId3" Type="http://schemas.openxmlformats.org/officeDocument/2006/relationships/image" Target="../media/icon_FiGitBranch.png"/><Relationship Id="rId4" Type="http://schemas.openxmlformats.org/officeDocument/2006/relationships/image" Target="../media/icon_FiCpu.png"/><Relationship Id="rId5" Type="http://schemas.openxmlformats.org/officeDocument/2006/relationships/image" Target="../media/icon_FiLock.png"/><Relationship Id="rId6" Type="http://schemas.openxmlformats.org/officeDocument/2006/relationships/image" Target="../media/icon_FiMonitor.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00000" y="620000"/>
            <a:ext cx="8900000" cy="2700000"/>
          </a:xfrm>
        </p:spPr>
        <p:txBody>
          <a:bodyPr wrap="square" lIns="0" tIns="0" rIns="0" bIns="0" rtlCol="0" anchor="ctr">
            <a:noAutofit/>
          </a:bodyPr>
          <a:lstStyle/>
          <a:p>
            <a:pPr algn="ctr">
              <a:lnSpc>
                <a:spcPct val="100000"/>
              </a:lnSpc>
              <a:spcBef>
                <a:spcPts val="0"/>
              </a:spcBef>
              <a:spcAft>
                <a:spcPts val="2000"/>
              </a:spcAft>
              <a:buNone/>
            </a:pPr>
            <a:r>
              <a:rPr lang="en-US" sz="2800" b="1" i="0" dirty="0">
                <a:solidFill>
                  <a:srgbClr val="C00000"/>
                </a:solidFill>
                <a:latin typeface="Calibri"/>
                <a:cs typeface="Calibri"/>
              </a:rPr>
              <a:t>Operating System and System Programming</a:t>
            </a:r>
            <a:br>
              <a:rPr lang="en-US" sz="2800" dirty="0">
                <a:solidFill>
                  <a:srgbClr val="C00000"/>
                </a:solidFill>
                <a:latin typeface="Calibri"/>
              </a:rPr>
            </a:br>
            <a:r>
              <a:rPr lang="en-US" sz="2800" b="1" i="0" dirty="0">
                <a:solidFill>
                  <a:srgbClr val="C00000"/>
                </a:solidFill>
                <a:latin typeface="Calibri"/>
                <a:cs typeface="Calibri"/>
              </a:rPr>
              <a:t>(25CS2104E)</a:t>
            </a:r>
          </a:p>
          <a:p>
            <a:pPr algn="ctr">
              <a:lnSpc>
                <a:spcPct val="100000"/>
              </a:lnSpc>
              <a:spcBef>
                <a:spcPts val="0"/>
              </a:spcBef>
              <a:spcAft>
                <a:spcPts val="0"/>
              </a:spcAft>
              <a:buNone/>
            </a:pPr>
            <a:r>
              <a:rPr lang="en-US" sz="3600" b="1" i="0" dirty="0">
                <a:solidFill>
                  <a:srgbClr val="002060"/>
                </a:solidFill>
                <a:latin typeface="Calibri"/>
                <a:cs typeface="Calibri"/>
              </a:rPr>
              <a:t>Linux File Backup and Synchronization System</a:t>
            </a:r>
          </a:p>
          <a:p>
            <a:pPr algn="ctr">
              <a:lnSpc>
                <a:spcPct val="100000"/>
              </a:lnSpc>
              <a:spcBef>
                <a:spcPts val="400"/>
              </a:spcBef>
              <a:spcAft>
                <a:spcPts val="0"/>
              </a:spcAft>
              <a:buNone/>
            </a:pPr>
            <a:r>
              <a:rPr lang="en-US" sz="2400" b="0" i="1" dirty="0">
                <a:solidFill>
                  <a:srgbClr val="595959"/>
                </a:solidFill>
                <a:latin typeface="Calibri"/>
                <a:cs typeface="Calibri"/>
              </a:rPr>
              <a:t>Using System Calls</a:t>
            </a:r>
          </a:p>
        </p:txBody>
      </p:sp>
      <p:sp>
        <p:nvSpPr>
          <p:cNvPr id="3" name="Review Label"/>
          <p:cNvSpPr txBox="1"/>
          <p:nvPr/>
        </p:nvSpPr>
        <p:spPr>
          <a:xfrm>
            <a:off x="3400000" y="3400000"/>
            <a:ext cx="7550000" cy="520000"/>
          </a:xfrm>
          <a:prstGeom prst="rect">
            <a:avLst/>
          </a:prstGeom>
          <a:noFill/>
          <a:ln>
            <a:noFill/>
          </a:ln>
        </p:spPr>
        <p:txBody>
          <a:bodyPr wrap="square" lIns="0" tIns="0" rIns="0" bIns="0" rtlCol="0" anchor="ctr">
            <a:noAutofit/>
          </a:bodyPr>
          <a:lstStyle/>
          <a:p>
            <a:pPr algn="ctr">
              <a:spcBef>
                <a:spcPts val="0"/>
              </a:spcBef>
              <a:spcAft>
                <a:spcPts val="0"/>
              </a:spcAft>
              <a:buNone/>
            </a:pPr>
            <a:r>
              <a:rPr lang="en-US" sz="2800" b="1" i="0" dirty="0">
                <a:solidFill>
                  <a:srgbClr val="2F5597"/>
                </a:solidFill>
                <a:latin typeface="Calibri"/>
                <a:cs typeface="Calibri"/>
              </a:rPr>
              <a:t>Review-I</a:t>
            </a:r>
          </a:p>
        </p:txBody>
      </p:sp>
      <p:sp>
        <p:nvSpPr>
          <p:cNvPr id="4" name="Guidance Card"/>
          <p:cNvSpPr/>
          <p:nvPr/>
        </p:nvSpPr>
        <p:spPr>
          <a:xfrm>
            <a:off x="600000" y="4250000"/>
            <a:ext cx="4750000" cy="2200000"/>
          </a:xfrm>
          <a:prstGeom prst="roundRect">
            <a:avLst>
              <a:gd name="adj" fmla="val 5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5" name="Guidance Text"/>
          <p:cNvSpPr txBox="1"/>
          <p:nvPr/>
        </p:nvSpPr>
        <p:spPr>
          <a:xfrm>
            <a:off x="600000" y="4250000"/>
            <a:ext cx="4750000" cy="2200000"/>
          </a:xfrm>
          <a:prstGeom prst="rect">
            <a:avLst/>
          </a:prstGeom>
          <a:noFill/>
          <a:ln>
            <a:noFill/>
          </a:ln>
        </p:spPr>
        <p:txBody>
          <a:bodyPr wrap="square" lIns="120000" tIns="60000" rIns="120000" bIns="60000" rtlCol="0" anchor="ctr">
            <a:noAutofit/>
          </a:bodyPr>
          <a:lstStyle/>
          <a:p>
            <a:pPr algn="ctr">
              <a:spcBef>
                <a:spcPts val="0"/>
              </a:spcBef>
              <a:spcAft>
                <a:spcPts val="800"/>
              </a:spcAft>
              <a:buNone/>
            </a:pPr>
            <a:r>
              <a:rPr lang="en-US" sz="1600" b="0" i="0" dirty="0">
                <a:solidFill>
                  <a:srgbClr val="595959"/>
                </a:solidFill>
                <a:latin typeface="Calibri"/>
                <a:cs typeface="Calibri"/>
              </a:rPr>
              <a:t>Under the Esteemed Guidance of</a:t>
            </a:r>
          </a:p>
          <a:p>
            <a:pPr algn="ctr">
              <a:spcBef>
                <a:spcPts val="0"/>
              </a:spcBef>
              <a:spcAft>
                <a:spcPts val="200"/>
              </a:spcAft>
              <a:buNone/>
            </a:pPr>
            <a:r>
              <a:rPr lang="en-US" sz="2600" b="1" i="0" dirty="0">
                <a:solidFill>
                  <a:srgbClr val="262626"/>
                </a:solidFill>
                <a:latin typeface="Calibri"/>
                <a:cs typeface="Calibri"/>
              </a:rPr>
              <a:t>Raghupathi M</a:t>
            </a:r>
          </a:p>
          <a:p>
            <a:pPr algn="ctr">
              <a:spcBef>
                <a:spcPts val="0"/>
              </a:spcBef>
              <a:spcAft>
                <a:spcPts val="0"/>
              </a:spcAft>
              <a:buNone/>
            </a:pPr>
            <a:r>
              <a:rPr lang="en-US" sz="1800" b="0" i="0" dirty="0">
                <a:solidFill>
                  <a:srgbClr val="262626"/>
                </a:solidFill>
                <a:latin typeface="Calibri"/>
                <a:cs typeface="Calibri"/>
              </a:rPr>
              <a:t>CSE Department</a:t>
            </a:r>
          </a:p>
        </p:txBody>
      </p:sp>
      <p:sp>
        <p:nvSpPr>
          <p:cNvPr id="6" name="Team Card"/>
          <p:cNvSpPr/>
          <p:nvPr/>
        </p:nvSpPr>
        <p:spPr>
          <a:xfrm>
            <a:off x="5750000" y="4250000"/>
            <a:ext cx="6000000" cy="2200000"/>
          </a:xfrm>
          <a:prstGeom prst="roundRect">
            <a:avLst>
              <a:gd name="adj" fmla="val 5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7" name="Team Heading"/>
          <p:cNvSpPr txBox="1"/>
          <p:nvPr/>
        </p:nvSpPr>
        <p:spPr>
          <a:xfrm>
            <a:off x="5980000" y="4340000"/>
            <a:ext cx="5540000" cy="400000"/>
          </a:xfrm>
          <a:prstGeom prst="rect">
            <a:avLst/>
          </a:prstGeom>
          <a:noFill/>
          <a:ln>
            <a:noFill/>
          </a:ln>
        </p:spPr>
        <p:txBody>
          <a:bodyPr wrap="square" lIns="0" tIns="0" rIns="0" bIns="0" rtlCol="0" anchor="ctr">
            <a:noAutofit/>
          </a:bodyPr>
          <a:lstStyle/>
          <a:p>
            <a:pPr algn="l">
              <a:spcBef>
                <a:spcPts val="0"/>
              </a:spcBef>
              <a:spcAft>
                <a:spcPts val="0"/>
              </a:spcAft>
              <a:buNone/>
            </a:pPr>
            <a:r>
              <a:rPr lang="en-US" sz="1700" b="1" i="0" dirty="0">
                <a:solidFill>
                  <a:srgbClr val="002060"/>
                </a:solidFill>
                <a:latin typeface="Calibri"/>
                <a:cs typeface="Calibri"/>
              </a:rPr>
              <a:t>Team Members</a:t>
            </a:r>
            <a:r>
              <a:rPr lang="en-US" sz="1400" b="0" i="0" dirty="0">
                <a:solidFill>
                  <a:srgbClr val="595959"/>
                </a:solidFill>
                <a:latin typeface="Calibri"/>
                <a:cs typeface="Calibri"/>
              </a:rPr>
              <a:t>   ·   Team No. 12  ·  Section 22</a:t>
            </a:r>
          </a:p>
        </p:txBody>
      </p:sp>
      <p:graphicFrame>
        <p:nvGraphicFramePr>
          <p:cNvPr id="8" name="Team Table"/>
          <p:cNvGraphicFramePr>
            <a:graphicFrameLocks noGrp="1"/>
          </p:cNvGraphicFramePr>
          <p:nvPr/>
        </p:nvGraphicFramePr>
        <p:xfrm>
          <a:off x="5980000" y="4830000"/>
          <a:ext cx="5540000" cy="1400000"/>
        </p:xfrm>
        <a:graphic>
          <a:graphicData uri="http://schemas.openxmlformats.org/drawingml/2006/table">
            <a:tbl>
              <a:tblPr firstRow="1"/>
              <a:tblGrid>
                <a:gridCol w="3000000"/>
                <a:gridCol w="2540000"/>
              </a:tblGrid>
              <a:tr h="350000">
                <a:tc>
                  <a:txBody>
                    <a:bodyPr/>
                    <a:lstStyle/>
                    <a:p>
                      <a:pPr algn="l">
                        <a:spcBef>
                          <a:spcPts val="0"/>
                        </a:spcBef>
                        <a:spcAft>
                          <a:spcPts val="0"/>
                        </a:spcAft>
                        <a:buNone/>
                      </a:pPr>
                      <a:r>
                        <a:rPr lang="en-US" sz="1400" b="1" i="0" dirty="0">
                          <a:solidFill>
                            <a:srgbClr val="002060"/>
                          </a:solidFill>
                          <a:latin typeface="Calibri"/>
                          <a:cs typeface="Calibri"/>
                        </a:rPr>
                        <a:t>Name</a:t>
                      </a:r>
                    </a:p>
                  </a:txBody>
                  <a:tcPr marL="91440" marR="91440" marT="45720" marB="45720" anchor="ctr">
                    <a:lnL w="0">
                      <a:noFill/>
                    </a:lnL>
                    <a:lnR w="0">
                      <a:noFill/>
                    </a:lnR>
                    <a:lnT w="0">
                      <a:noFill/>
                    </a:lnT>
                    <a:lnB w="9525">
                      <a:solidFill>
                        <a:srgbClr val="002060"/>
                      </a:solidFill>
                    </a:lnB>
                    <a:noFill/>
                  </a:tcPr>
                </a:tc>
                <a:tc>
                  <a:txBody>
                    <a:bodyPr/>
                    <a:lstStyle/>
                    <a:p>
                      <a:pPr algn="l">
                        <a:spcBef>
                          <a:spcPts val="0"/>
                        </a:spcBef>
                        <a:spcAft>
                          <a:spcPts val="0"/>
                        </a:spcAft>
                        <a:buNone/>
                      </a:pPr>
                      <a:r>
                        <a:rPr lang="en-US" sz="1400" b="1" i="0" dirty="0">
                          <a:solidFill>
                            <a:srgbClr val="002060"/>
                          </a:solidFill>
                          <a:latin typeface="Calibri"/>
                          <a:cs typeface="Calibri"/>
                        </a:rPr>
                        <a:t>Roll Number</a:t>
                      </a:r>
                    </a:p>
                  </a:txBody>
                  <a:tcPr marL="91440" marR="91440" marT="45720" marB="45720" anchor="ctr">
                    <a:lnL w="0">
                      <a:noFill/>
                    </a:lnL>
                    <a:lnR w="0">
                      <a:noFill/>
                    </a:lnR>
                    <a:lnT w="0">
                      <a:noFill/>
                    </a:lnT>
                    <a:lnB w="9525">
                      <a:solidFill>
                        <a:srgbClr val="002060"/>
                      </a:solidFill>
                    </a:lnB>
                    <a:noFill/>
                  </a:tcPr>
                </a:tc>
              </a:tr>
              <a:tr h="350000">
                <a:tc>
                  <a:txBody>
                    <a:bodyPr/>
                    <a:lstStyle/>
                    <a:p>
                      <a:pPr algn="l">
                        <a:spcBef>
                          <a:spcPts val="0"/>
                        </a:spcBef>
                        <a:spcAft>
                          <a:spcPts val="0"/>
                        </a:spcAft>
                        <a:buNone/>
                      </a:pPr>
                      <a:r>
                        <a:rPr lang="en-US" sz="1600" b="0" i="0" dirty="0">
                          <a:solidFill>
                            <a:srgbClr val="262626"/>
                          </a:solidFill>
                          <a:latin typeface="Calibri"/>
                          <a:cs typeface="Calibri"/>
                        </a:rPr>
                        <a:t>Sai Krishna</a:t>
                      </a:r>
                    </a:p>
                  </a:txBody>
                  <a:tcPr marL="91440" marR="91440" marT="45720" marB="45720" anchor="ctr">
                    <a:lnL w="0">
                      <a:noFill/>
                    </a:lnL>
                    <a:lnR w="0">
                      <a:noFill/>
                    </a:lnR>
                    <a:lnT w="0">
                      <a:noFill/>
                    </a:lnT>
                    <a:lnB w="9525">
                      <a:solidFill>
                        <a:srgbClr val="D9D9D9"/>
                      </a:solidFill>
                    </a:lnB>
                    <a:noFill/>
                  </a:tcPr>
                </a:tc>
                <a:tc>
                  <a:txBody>
                    <a:bodyPr/>
                    <a:lstStyle/>
                    <a:p>
                      <a:pPr algn="l">
                        <a:spcBef>
                          <a:spcPts val="0"/>
                        </a:spcBef>
                        <a:spcAft>
                          <a:spcPts val="0"/>
                        </a:spcAft>
                        <a:buNone/>
                      </a:pPr>
                      <a:r>
                        <a:rPr lang="en-US" sz="1600" b="0" i="0" dirty="0">
                          <a:solidFill>
                            <a:srgbClr val="262626"/>
                          </a:solidFill>
                          <a:latin typeface="Calibri"/>
                          <a:cs typeface="Calibri"/>
                        </a:rPr>
                        <a:t>2520090156</a:t>
                      </a:r>
                    </a:p>
                  </a:txBody>
                  <a:tcPr marL="91440" marR="91440" marT="45720" marB="45720" anchor="ctr">
                    <a:lnL w="0">
                      <a:noFill/>
                    </a:lnL>
                    <a:lnR w="0">
                      <a:noFill/>
                    </a:lnR>
                    <a:lnT w="0">
                      <a:noFill/>
                    </a:lnT>
                    <a:lnB w="9525">
                      <a:solidFill>
                        <a:srgbClr val="D9D9D9"/>
                      </a:solidFill>
                    </a:lnB>
                    <a:noFill/>
                  </a:tcPr>
                </a:tc>
              </a:tr>
              <a:tr h="350000">
                <a:tc>
                  <a:txBody>
                    <a:bodyPr/>
                    <a:lstStyle/>
                    <a:p>
                      <a:pPr algn="l">
                        <a:spcBef>
                          <a:spcPts val="0"/>
                        </a:spcBef>
                        <a:spcAft>
                          <a:spcPts val="0"/>
                        </a:spcAft>
                        <a:buNone/>
                      </a:pPr>
                      <a:r>
                        <a:rPr lang="en-US" sz="1600" b="0" i="0" dirty="0">
                          <a:solidFill>
                            <a:srgbClr val="262626"/>
                          </a:solidFill>
                          <a:latin typeface="Calibri"/>
                          <a:cs typeface="Calibri"/>
                        </a:rPr>
                        <a:t>Navaneeth</a:t>
                      </a:r>
                    </a:p>
                  </a:txBody>
                  <a:tcPr marL="91440" marR="91440" marT="45720" marB="45720" anchor="ctr">
                    <a:lnL w="0">
                      <a:noFill/>
                    </a:lnL>
                    <a:lnR w="0">
                      <a:noFill/>
                    </a:lnR>
                    <a:lnT w="0">
                      <a:noFill/>
                    </a:lnT>
                    <a:lnB w="9525">
                      <a:solidFill>
                        <a:srgbClr val="D9D9D9"/>
                      </a:solidFill>
                    </a:lnB>
                    <a:noFill/>
                  </a:tcPr>
                </a:tc>
                <a:tc>
                  <a:txBody>
                    <a:bodyPr/>
                    <a:lstStyle/>
                    <a:p>
                      <a:pPr algn="l">
                        <a:spcBef>
                          <a:spcPts val="0"/>
                        </a:spcBef>
                        <a:spcAft>
                          <a:spcPts val="0"/>
                        </a:spcAft>
                        <a:buNone/>
                      </a:pPr>
                      <a:r>
                        <a:rPr lang="en-US" sz="1600" b="0" i="0" dirty="0">
                          <a:solidFill>
                            <a:srgbClr val="262626"/>
                          </a:solidFill>
                          <a:latin typeface="Calibri"/>
                          <a:cs typeface="Calibri"/>
                        </a:rPr>
                        <a:t>2520090218</a:t>
                      </a:r>
                    </a:p>
                  </a:txBody>
                  <a:tcPr marL="91440" marR="91440" marT="45720" marB="45720" anchor="ctr">
                    <a:lnL w="0">
                      <a:noFill/>
                    </a:lnL>
                    <a:lnR w="0">
                      <a:noFill/>
                    </a:lnR>
                    <a:lnT w="0">
                      <a:noFill/>
                    </a:lnT>
                    <a:lnB w="9525">
                      <a:solidFill>
                        <a:srgbClr val="D9D9D9"/>
                      </a:solidFill>
                    </a:lnB>
                    <a:noFill/>
                  </a:tcPr>
                </a:tc>
              </a:tr>
              <a:tr h="350000">
                <a:tc>
                  <a:txBody>
                    <a:bodyPr/>
                    <a:lstStyle/>
                    <a:p>
                      <a:pPr algn="l">
                        <a:spcBef>
                          <a:spcPts val="0"/>
                        </a:spcBef>
                        <a:spcAft>
                          <a:spcPts val="0"/>
                        </a:spcAft>
                        <a:buNone/>
                      </a:pPr>
                      <a:r>
                        <a:rPr lang="en-US" sz="1600" b="0" i="0" dirty="0">
                          <a:solidFill>
                            <a:srgbClr val="262626"/>
                          </a:solidFill>
                          <a:latin typeface="Calibri"/>
                          <a:cs typeface="Calibri"/>
                        </a:rPr>
                        <a:t>Chaithanya</a:t>
                      </a:r>
                    </a:p>
                  </a:txBody>
                  <a:tcPr marL="91440" marR="91440" marT="45720" marB="45720" anchor="ctr">
                    <a:lnL w="0">
                      <a:noFill/>
                    </a:lnL>
                    <a:lnR w="0">
                      <a:noFill/>
                    </a:lnR>
                    <a:lnT w="0">
                      <a:noFill/>
                    </a:lnT>
                    <a:lnB w="9525">
                      <a:solidFill>
                        <a:srgbClr val="D9D9D9"/>
                      </a:solidFill>
                    </a:lnB>
                    <a:noFill/>
                  </a:tcPr>
                </a:tc>
                <a:tc>
                  <a:txBody>
                    <a:bodyPr/>
                    <a:lstStyle/>
                    <a:p>
                      <a:pPr algn="l">
                        <a:spcBef>
                          <a:spcPts val="0"/>
                        </a:spcBef>
                        <a:spcAft>
                          <a:spcPts val="0"/>
                        </a:spcAft>
                        <a:buNone/>
                      </a:pPr>
                      <a:r>
                        <a:rPr lang="en-US" sz="1600" b="0" i="0" dirty="0">
                          <a:solidFill>
                            <a:srgbClr val="262626"/>
                          </a:solidFill>
                          <a:latin typeface="Calibri"/>
                          <a:cs typeface="Calibri"/>
                        </a:rPr>
                        <a:t>2520090099</a:t>
                      </a:r>
                    </a:p>
                  </a:txBody>
                  <a:tcPr marL="91440" marR="91440" marT="45720" marB="45720" anchor="ctr">
                    <a:lnL w="0">
                      <a:noFill/>
                    </a:lnL>
                    <a:lnR w="0">
                      <a:noFill/>
                    </a:lnR>
                    <a:lnT w="0">
                      <a:noFill/>
                    </a:lnT>
                    <a:lnB w="9525">
                      <a:solidFill>
                        <a:srgbClr val="D9D9D9"/>
                      </a:solidFill>
                    </a:lnB>
                    <a:no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Bar"/>
          <p:cNvSpPr/>
          <p:nvPr/>
        </p:nvSpPr>
        <p:spPr>
          <a:xfrm>
            <a:off x="3200000" y="230000"/>
            <a:ext cx="8150000" cy="560000"/>
          </a:xfrm>
          <a:prstGeom prst="roundRect">
            <a:avLst>
              <a:gd name="adj" fmla="val 16667"/>
            </a:avLst>
          </a:prstGeom>
          <a:solidFill>
            <a:srgbClr val="C00000"/>
          </a:solidFill>
          <a:ln>
            <a:noFill/>
          </a:ln>
        </p:spPr>
        <p:txBody>
          <a:bodyPr wrap="square" lIns="0" tIns="0" rIns="0" bIns="0" rtlCol="0" anchor="ctr">
            <a:noAutofit/>
          </a:bodyPr>
          <a:lstStyle/>
          <a:p>
            <a:pPr algn="ctr">
              <a:spcBef>
                <a:spcPts val="0"/>
              </a:spcBef>
              <a:spcAft>
                <a:spcPts val="0"/>
              </a:spcAft>
              <a:buNone/>
            </a:pPr>
            <a:r>
              <a:rPr lang="en-US" sz="2800" b="1" i="0" dirty="0">
                <a:solidFill>
                  <a:srgbClr val="FFFFFF"/>
                </a:solidFill>
                <a:latin typeface="Calibri"/>
                <a:cs typeface="Calibri"/>
              </a:rPr>
              <a:t>Contents</a:t>
            </a:r>
          </a:p>
        </p:txBody>
      </p:sp>
      <p:sp>
        <p:nvSpPr>
          <p:cNvPr id="3" name="Contents Row 1"/>
          <p:cNvSpPr/>
          <p:nvPr/>
        </p:nvSpPr>
        <p:spPr>
          <a:xfrm>
            <a:off x="3200000" y="1150000"/>
            <a:ext cx="8150000" cy="780000"/>
          </a:xfrm>
          <a:prstGeom prst="roundRect">
            <a:avLst>
              <a:gd name="adj" fmla="val 12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4" name="Number Circle"/>
          <p:cNvSpPr/>
          <p:nvPr/>
        </p:nvSpPr>
        <p:spPr>
          <a:xfrm>
            <a:off x="3420000" y="1300000"/>
            <a:ext cx="480000" cy="480000"/>
          </a:xfrm>
          <a:prstGeom prst="ellipse">
            <a:avLst/>
          </a:prstGeom>
          <a:solidFill>
            <a:srgbClr val="C00000"/>
          </a:solidFill>
          <a:ln>
            <a:noFill/>
          </a:ln>
        </p:spPr>
        <p:txBody>
          <a:bodyPr wrap="square" lIns="0" tIns="0" rIns="0" bIns="0" rtlCol="0" anchor="ctr">
            <a:noAutofit/>
          </a:bodyPr>
          <a:lstStyle/>
          <a:p>
            <a:pPr algn="ctr">
              <a:spcBef>
                <a:spcPts val="0"/>
              </a:spcBef>
              <a:spcAft>
                <a:spcPts val="0"/>
              </a:spcAft>
              <a:buNone/>
            </a:pPr>
            <a:r>
              <a:rPr lang="en-US" sz="2000" b="1" i="0" dirty="0">
                <a:solidFill>
                  <a:srgbClr val="FFFFFF"/>
                </a:solidFill>
                <a:latin typeface="Calibri"/>
                <a:cs typeface="Calibri"/>
              </a:rPr>
              <a:t>1</a:t>
            </a:r>
          </a:p>
        </p:txBody>
      </p:sp>
      <p:sp>
        <p:nvSpPr>
          <p:cNvPr id="5" name="Contents Label"/>
          <p:cNvSpPr txBox="1"/>
          <p:nvPr/>
        </p:nvSpPr>
        <p:spPr>
          <a:xfrm>
            <a:off x="4150000" y="1150000"/>
            <a:ext cx="5600000" cy="780000"/>
          </a:xfrm>
          <a:prstGeom prst="rect">
            <a:avLst/>
          </a:prstGeom>
          <a:noFill/>
          <a:ln>
            <a:noFill/>
          </a:ln>
        </p:spPr>
        <p:txBody>
          <a:bodyPr wrap="square" lIns="0" tIns="0" rIns="0" bIns="0" rtlCol="0" anchor="ctr">
            <a:noAutofit/>
          </a:bodyPr>
          <a:lstStyle/>
          <a:p>
            <a:pPr algn="l">
              <a:spcBef>
                <a:spcPts val="0"/>
              </a:spcBef>
              <a:spcAft>
                <a:spcPts val="0"/>
              </a:spcAft>
              <a:buNone/>
            </a:pPr>
            <a:r>
              <a:rPr lang="en-US" sz="2400" b="0" i="0" dirty="0">
                <a:solidFill>
                  <a:srgbClr val="262626"/>
                </a:solidFill>
                <a:latin typeface="Calibri"/>
                <a:cs typeface="Calibri"/>
              </a:rPr>
              <a:t>Abstract</a:t>
            </a:r>
          </a:p>
        </p:txBody>
      </p:sp>
      <p:sp>
        <p:nvSpPr>
          <p:cNvPr id="6" name="Contents Slide No"/>
          <p:cNvSpPr txBox="1"/>
          <p:nvPr/>
        </p:nvSpPr>
        <p:spPr>
          <a:xfrm>
            <a:off x="9450000" y="1150000"/>
            <a:ext cx="1700000" cy="780000"/>
          </a:xfrm>
          <a:prstGeom prst="rect">
            <a:avLst/>
          </a:prstGeom>
          <a:noFill/>
          <a:ln>
            <a:noFill/>
          </a:ln>
        </p:spPr>
        <p:txBody>
          <a:bodyPr wrap="square" lIns="0" tIns="0" rIns="0" bIns="0" rtlCol="0" anchor="ctr">
            <a:noAutofit/>
          </a:bodyPr>
          <a:lstStyle/>
          <a:p>
            <a:pPr algn="r">
              <a:spcBef>
                <a:spcPts val="0"/>
              </a:spcBef>
              <a:spcAft>
                <a:spcPts val="0"/>
              </a:spcAft>
              <a:buNone/>
            </a:pPr>
            <a:r>
              <a:rPr lang="en-US" sz="1500" b="0" i="0" dirty="0">
                <a:solidFill>
                  <a:srgbClr val="595959"/>
                </a:solidFill>
                <a:latin typeface="Calibri"/>
                <a:cs typeface="Calibri"/>
              </a:rPr>
              <a:t>Slide 3</a:t>
            </a:r>
          </a:p>
        </p:txBody>
      </p:sp>
      <p:sp>
        <p:nvSpPr>
          <p:cNvPr id="7" name="Contents Row 2"/>
          <p:cNvSpPr/>
          <p:nvPr/>
        </p:nvSpPr>
        <p:spPr>
          <a:xfrm>
            <a:off x="3200000" y="2130000"/>
            <a:ext cx="8150000" cy="780000"/>
          </a:xfrm>
          <a:prstGeom prst="roundRect">
            <a:avLst>
              <a:gd name="adj" fmla="val 12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8" name="Number Circle"/>
          <p:cNvSpPr/>
          <p:nvPr/>
        </p:nvSpPr>
        <p:spPr>
          <a:xfrm>
            <a:off x="3420000" y="2280000"/>
            <a:ext cx="480000" cy="480000"/>
          </a:xfrm>
          <a:prstGeom prst="ellipse">
            <a:avLst/>
          </a:prstGeom>
          <a:solidFill>
            <a:srgbClr val="C00000"/>
          </a:solidFill>
          <a:ln>
            <a:noFill/>
          </a:ln>
        </p:spPr>
        <p:txBody>
          <a:bodyPr wrap="square" lIns="0" tIns="0" rIns="0" bIns="0" rtlCol="0" anchor="ctr">
            <a:noAutofit/>
          </a:bodyPr>
          <a:lstStyle/>
          <a:p>
            <a:pPr algn="ctr">
              <a:spcBef>
                <a:spcPts val="0"/>
              </a:spcBef>
              <a:spcAft>
                <a:spcPts val="0"/>
              </a:spcAft>
              <a:buNone/>
            </a:pPr>
            <a:r>
              <a:rPr lang="en-US" sz="2000" b="1" i="0" dirty="0">
                <a:solidFill>
                  <a:srgbClr val="FFFFFF"/>
                </a:solidFill>
                <a:latin typeface="Calibri"/>
                <a:cs typeface="Calibri"/>
              </a:rPr>
              <a:t>2</a:t>
            </a:r>
          </a:p>
        </p:txBody>
      </p:sp>
      <p:sp>
        <p:nvSpPr>
          <p:cNvPr id="9" name="Contents Label"/>
          <p:cNvSpPr txBox="1"/>
          <p:nvPr/>
        </p:nvSpPr>
        <p:spPr>
          <a:xfrm>
            <a:off x="4150000" y="2130000"/>
            <a:ext cx="5600000" cy="780000"/>
          </a:xfrm>
          <a:prstGeom prst="rect">
            <a:avLst/>
          </a:prstGeom>
          <a:noFill/>
          <a:ln>
            <a:noFill/>
          </a:ln>
        </p:spPr>
        <p:txBody>
          <a:bodyPr wrap="square" lIns="0" tIns="0" rIns="0" bIns="0" rtlCol="0" anchor="ctr">
            <a:noAutofit/>
          </a:bodyPr>
          <a:lstStyle/>
          <a:p>
            <a:pPr algn="l">
              <a:spcBef>
                <a:spcPts val="0"/>
              </a:spcBef>
              <a:spcAft>
                <a:spcPts val="0"/>
              </a:spcAft>
              <a:buNone/>
            </a:pPr>
            <a:r>
              <a:rPr lang="en-US" sz="2400" b="0" i="0" dirty="0">
                <a:solidFill>
                  <a:srgbClr val="262626"/>
                </a:solidFill>
                <a:latin typeface="Calibri"/>
                <a:cs typeface="Calibri"/>
              </a:rPr>
              <a:t>Introduction</a:t>
            </a:r>
          </a:p>
        </p:txBody>
      </p:sp>
      <p:sp>
        <p:nvSpPr>
          <p:cNvPr id="10" name="Contents Slide No"/>
          <p:cNvSpPr txBox="1"/>
          <p:nvPr/>
        </p:nvSpPr>
        <p:spPr>
          <a:xfrm>
            <a:off x="9450000" y="2130000"/>
            <a:ext cx="1700000" cy="780000"/>
          </a:xfrm>
          <a:prstGeom prst="rect">
            <a:avLst/>
          </a:prstGeom>
          <a:noFill/>
          <a:ln>
            <a:noFill/>
          </a:ln>
        </p:spPr>
        <p:txBody>
          <a:bodyPr wrap="square" lIns="0" tIns="0" rIns="0" bIns="0" rtlCol="0" anchor="ctr">
            <a:noAutofit/>
          </a:bodyPr>
          <a:lstStyle/>
          <a:p>
            <a:pPr algn="r">
              <a:spcBef>
                <a:spcPts val="0"/>
              </a:spcBef>
              <a:spcAft>
                <a:spcPts val="0"/>
              </a:spcAft>
              <a:buNone/>
            </a:pPr>
            <a:r>
              <a:rPr lang="en-US" sz="1500" b="0" i="0" dirty="0">
                <a:solidFill>
                  <a:srgbClr val="595959"/>
                </a:solidFill>
                <a:latin typeface="Calibri"/>
                <a:cs typeface="Calibri"/>
              </a:rPr>
              <a:t>Slide 4</a:t>
            </a:r>
          </a:p>
        </p:txBody>
      </p:sp>
      <p:sp>
        <p:nvSpPr>
          <p:cNvPr id="11" name="Contents Row 3"/>
          <p:cNvSpPr/>
          <p:nvPr/>
        </p:nvSpPr>
        <p:spPr>
          <a:xfrm>
            <a:off x="3200000" y="3110000"/>
            <a:ext cx="8150000" cy="780000"/>
          </a:xfrm>
          <a:prstGeom prst="roundRect">
            <a:avLst>
              <a:gd name="adj" fmla="val 12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12" name="Number Circle"/>
          <p:cNvSpPr/>
          <p:nvPr/>
        </p:nvSpPr>
        <p:spPr>
          <a:xfrm>
            <a:off x="3420000" y="3260000"/>
            <a:ext cx="480000" cy="480000"/>
          </a:xfrm>
          <a:prstGeom prst="ellipse">
            <a:avLst/>
          </a:prstGeom>
          <a:solidFill>
            <a:srgbClr val="C00000"/>
          </a:solidFill>
          <a:ln>
            <a:noFill/>
          </a:ln>
        </p:spPr>
        <p:txBody>
          <a:bodyPr wrap="square" lIns="0" tIns="0" rIns="0" bIns="0" rtlCol="0" anchor="ctr">
            <a:noAutofit/>
          </a:bodyPr>
          <a:lstStyle/>
          <a:p>
            <a:pPr algn="ctr">
              <a:spcBef>
                <a:spcPts val="0"/>
              </a:spcBef>
              <a:spcAft>
                <a:spcPts val="0"/>
              </a:spcAft>
              <a:buNone/>
            </a:pPr>
            <a:r>
              <a:rPr lang="en-US" sz="2000" b="1" i="0" dirty="0">
                <a:solidFill>
                  <a:srgbClr val="FFFFFF"/>
                </a:solidFill>
                <a:latin typeface="Calibri"/>
                <a:cs typeface="Calibri"/>
              </a:rPr>
              <a:t>3</a:t>
            </a:r>
          </a:p>
        </p:txBody>
      </p:sp>
      <p:sp>
        <p:nvSpPr>
          <p:cNvPr id="13" name="Contents Label"/>
          <p:cNvSpPr txBox="1"/>
          <p:nvPr/>
        </p:nvSpPr>
        <p:spPr>
          <a:xfrm>
            <a:off x="4150000" y="3110000"/>
            <a:ext cx="5600000" cy="780000"/>
          </a:xfrm>
          <a:prstGeom prst="rect">
            <a:avLst/>
          </a:prstGeom>
          <a:noFill/>
          <a:ln>
            <a:noFill/>
          </a:ln>
        </p:spPr>
        <p:txBody>
          <a:bodyPr wrap="square" lIns="0" tIns="0" rIns="0" bIns="0" rtlCol="0" anchor="ctr">
            <a:noAutofit/>
          </a:bodyPr>
          <a:lstStyle/>
          <a:p>
            <a:pPr algn="l">
              <a:spcBef>
                <a:spcPts val="0"/>
              </a:spcBef>
              <a:spcAft>
                <a:spcPts val="0"/>
              </a:spcAft>
              <a:buNone/>
            </a:pPr>
            <a:r>
              <a:rPr lang="en-US" sz="2400" b="0" i="0" dirty="0">
                <a:solidFill>
                  <a:srgbClr val="262626"/>
                </a:solidFill>
                <a:latin typeface="Calibri"/>
                <a:cs typeface="Calibri"/>
              </a:rPr>
              <a:t>Hardware and Software Requirements</a:t>
            </a:r>
          </a:p>
        </p:txBody>
      </p:sp>
      <p:sp>
        <p:nvSpPr>
          <p:cNvPr id="14" name="Contents Slide No"/>
          <p:cNvSpPr txBox="1"/>
          <p:nvPr/>
        </p:nvSpPr>
        <p:spPr>
          <a:xfrm>
            <a:off x="9450000" y="3110000"/>
            <a:ext cx="1700000" cy="780000"/>
          </a:xfrm>
          <a:prstGeom prst="rect">
            <a:avLst/>
          </a:prstGeom>
          <a:noFill/>
          <a:ln>
            <a:noFill/>
          </a:ln>
        </p:spPr>
        <p:txBody>
          <a:bodyPr wrap="square" lIns="0" tIns="0" rIns="0" bIns="0" rtlCol="0" anchor="ctr">
            <a:noAutofit/>
          </a:bodyPr>
          <a:lstStyle/>
          <a:p>
            <a:pPr algn="r">
              <a:spcBef>
                <a:spcPts val="0"/>
              </a:spcBef>
              <a:spcAft>
                <a:spcPts val="0"/>
              </a:spcAft>
              <a:buNone/>
            </a:pPr>
            <a:r>
              <a:rPr lang="en-US" sz="1500" b="0" i="0" dirty="0">
                <a:solidFill>
                  <a:srgbClr val="595959"/>
                </a:solidFill>
                <a:latin typeface="Calibri"/>
                <a:cs typeface="Calibri"/>
              </a:rPr>
              <a:t>Slide 5</a:t>
            </a:r>
          </a:p>
        </p:txBody>
      </p:sp>
      <p:sp>
        <p:nvSpPr>
          <p:cNvPr id="15" name="Contents Row 4"/>
          <p:cNvSpPr/>
          <p:nvPr/>
        </p:nvSpPr>
        <p:spPr>
          <a:xfrm>
            <a:off x="3200000" y="4090000"/>
            <a:ext cx="8150000" cy="780000"/>
          </a:xfrm>
          <a:prstGeom prst="roundRect">
            <a:avLst>
              <a:gd name="adj" fmla="val 12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16" name="Number Circle"/>
          <p:cNvSpPr/>
          <p:nvPr/>
        </p:nvSpPr>
        <p:spPr>
          <a:xfrm>
            <a:off x="3420000" y="4240000"/>
            <a:ext cx="480000" cy="480000"/>
          </a:xfrm>
          <a:prstGeom prst="ellipse">
            <a:avLst/>
          </a:prstGeom>
          <a:solidFill>
            <a:srgbClr val="C00000"/>
          </a:solidFill>
          <a:ln>
            <a:noFill/>
          </a:ln>
        </p:spPr>
        <p:txBody>
          <a:bodyPr wrap="square" lIns="0" tIns="0" rIns="0" bIns="0" rtlCol="0" anchor="ctr">
            <a:noAutofit/>
          </a:bodyPr>
          <a:lstStyle/>
          <a:p>
            <a:pPr algn="ctr">
              <a:spcBef>
                <a:spcPts val="0"/>
              </a:spcBef>
              <a:spcAft>
                <a:spcPts val="0"/>
              </a:spcAft>
              <a:buNone/>
            </a:pPr>
            <a:r>
              <a:rPr lang="en-US" sz="2000" b="1" i="0" dirty="0">
                <a:solidFill>
                  <a:srgbClr val="FFFFFF"/>
                </a:solidFill>
                <a:latin typeface="Calibri"/>
                <a:cs typeface="Calibri"/>
              </a:rPr>
              <a:t>4</a:t>
            </a:r>
          </a:p>
        </p:txBody>
      </p:sp>
      <p:sp>
        <p:nvSpPr>
          <p:cNvPr id="17" name="Contents Label"/>
          <p:cNvSpPr txBox="1"/>
          <p:nvPr/>
        </p:nvSpPr>
        <p:spPr>
          <a:xfrm>
            <a:off x="4150000" y="4090000"/>
            <a:ext cx="5600000" cy="780000"/>
          </a:xfrm>
          <a:prstGeom prst="rect">
            <a:avLst/>
          </a:prstGeom>
          <a:noFill/>
          <a:ln>
            <a:noFill/>
          </a:ln>
        </p:spPr>
        <p:txBody>
          <a:bodyPr wrap="square" lIns="0" tIns="0" rIns="0" bIns="0" rtlCol="0" anchor="ctr">
            <a:noAutofit/>
          </a:bodyPr>
          <a:lstStyle/>
          <a:p>
            <a:pPr algn="l">
              <a:spcBef>
                <a:spcPts val="0"/>
              </a:spcBef>
              <a:spcAft>
                <a:spcPts val="0"/>
              </a:spcAft>
              <a:buNone/>
            </a:pPr>
            <a:r>
              <a:rPr lang="en-US" sz="2400" b="0" i="0" dirty="0">
                <a:solidFill>
                  <a:srgbClr val="262626"/>
                </a:solidFill>
                <a:latin typeface="Calibri"/>
                <a:cs typeface="Calibri"/>
              </a:rPr>
              <a:t>System Architecture</a:t>
            </a:r>
          </a:p>
        </p:txBody>
      </p:sp>
      <p:sp>
        <p:nvSpPr>
          <p:cNvPr id="18" name="Contents Slide No"/>
          <p:cNvSpPr txBox="1"/>
          <p:nvPr/>
        </p:nvSpPr>
        <p:spPr>
          <a:xfrm>
            <a:off x="9450000" y="4090000"/>
            <a:ext cx="1700000" cy="780000"/>
          </a:xfrm>
          <a:prstGeom prst="rect">
            <a:avLst/>
          </a:prstGeom>
          <a:noFill/>
          <a:ln>
            <a:noFill/>
          </a:ln>
        </p:spPr>
        <p:txBody>
          <a:bodyPr wrap="square" lIns="0" tIns="0" rIns="0" bIns="0" rtlCol="0" anchor="ctr">
            <a:noAutofit/>
          </a:bodyPr>
          <a:lstStyle/>
          <a:p>
            <a:pPr algn="r">
              <a:spcBef>
                <a:spcPts val="0"/>
              </a:spcBef>
              <a:spcAft>
                <a:spcPts val="0"/>
              </a:spcAft>
              <a:buNone/>
            </a:pPr>
            <a:r>
              <a:rPr lang="en-US" sz="1500" b="0" i="0" dirty="0">
                <a:solidFill>
                  <a:srgbClr val="595959"/>
                </a:solidFill>
                <a:latin typeface="Calibri"/>
                <a:cs typeface="Calibri"/>
              </a:rPr>
              <a:t>Slide 6</a:t>
            </a:r>
          </a:p>
        </p:txBody>
      </p:sp>
      <p:sp>
        <p:nvSpPr>
          <p:cNvPr id="19" name="Contents Row 5"/>
          <p:cNvSpPr/>
          <p:nvPr/>
        </p:nvSpPr>
        <p:spPr>
          <a:xfrm>
            <a:off x="3200000" y="5070000"/>
            <a:ext cx="8150000" cy="780000"/>
          </a:xfrm>
          <a:prstGeom prst="roundRect">
            <a:avLst>
              <a:gd name="adj" fmla="val 12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20" name="Number Circle"/>
          <p:cNvSpPr/>
          <p:nvPr/>
        </p:nvSpPr>
        <p:spPr>
          <a:xfrm>
            <a:off x="3420000" y="5220000"/>
            <a:ext cx="480000" cy="480000"/>
          </a:xfrm>
          <a:prstGeom prst="ellipse">
            <a:avLst/>
          </a:prstGeom>
          <a:solidFill>
            <a:srgbClr val="C00000"/>
          </a:solidFill>
          <a:ln>
            <a:noFill/>
          </a:ln>
        </p:spPr>
        <p:txBody>
          <a:bodyPr wrap="square" lIns="0" tIns="0" rIns="0" bIns="0" rtlCol="0" anchor="ctr">
            <a:noAutofit/>
          </a:bodyPr>
          <a:lstStyle/>
          <a:p>
            <a:pPr algn="ctr">
              <a:spcBef>
                <a:spcPts val="0"/>
              </a:spcBef>
              <a:spcAft>
                <a:spcPts val="0"/>
              </a:spcAft>
              <a:buNone/>
            </a:pPr>
            <a:r>
              <a:rPr lang="en-US" sz="2000" b="1" i="0" dirty="0">
                <a:solidFill>
                  <a:srgbClr val="FFFFFF"/>
                </a:solidFill>
                <a:latin typeface="Calibri"/>
                <a:cs typeface="Calibri"/>
              </a:rPr>
              <a:t>5</a:t>
            </a:r>
          </a:p>
        </p:txBody>
      </p:sp>
      <p:sp>
        <p:nvSpPr>
          <p:cNvPr id="21" name="Contents Label"/>
          <p:cNvSpPr txBox="1"/>
          <p:nvPr/>
        </p:nvSpPr>
        <p:spPr>
          <a:xfrm>
            <a:off x="4150000" y="5070000"/>
            <a:ext cx="5600000" cy="780000"/>
          </a:xfrm>
          <a:prstGeom prst="rect">
            <a:avLst/>
          </a:prstGeom>
          <a:noFill/>
          <a:ln>
            <a:noFill/>
          </a:ln>
        </p:spPr>
        <p:txBody>
          <a:bodyPr wrap="square" lIns="0" tIns="0" rIns="0" bIns="0" rtlCol="0" anchor="ctr">
            <a:noAutofit/>
          </a:bodyPr>
          <a:lstStyle/>
          <a:p>
            <a:pPr algn="l">
              <a:spcBef>
                <a:spcPts val="0"/>
              </a:spcBef>
              <a:spcAft>
                <a:spcPts val="0"/>
              </a:spcAft>
              <a:buNone/>
            </a:pPr>
            <a:r>
              <a:rPr lang="en-US" sz="2400" b="0" i="0" dirty="0">
                <a:solidFill>
                  <a:srgbClr val="262626"/>
                </a:solidFill>
                <a:latin typeface="Calibri"/>
                <a:cs typeface="Calibri"/>
              </a:rPr>
              <a:t>Conclusion</a:t>
            </a:r>
          </a:p>
        </p:txBody>
      </p:sp>
      <p:sp>
        <p:nvSpPr>
          <p:cNvPr id="22" name="Contents Slide No"/>
          <p:cNvSpPr txBox="1"/>
          <p:nvPr/>
        </p:nvSpPr>
        <p:spPr>
          <a:xfrm>
            <a:off x="9450000" y="5070000"/>
            <a:ext cx="1700000" cy="780000"/>
          </a:xfrm>
          <a:prstGeom prst="rect">
            <a:avLst/>
          </a:prstGeom>
          <a:noFill/>
          <a:ln>
            <a:noFill/>
          </a:ln>
        </p:spPr>
        <p:txBody>
          <a:bodyPr wrap="square" lIns="0" tIns="0" rIns="0" bIns="0" rtlCol="0" anchor="ctr">
            <a:noAutofit/>
          </a:bodyPr>
          <a:lstStyle/>
          <a:p>
            <a:pPr algn="r">
              <a:spcBef>
                <a:spcPts val="0"/>
              </a:spcBef>
              <a:spcAft>
                <a:spcPts val="0"/>
              </a:spcAft>
              <a:buNone/>
            </a:pPr>
            <a:r>
              <a:rPr lang="en-US" sz="1500" b="0" i="0" dirty="0">
                <a:solidFill>
                  <a:srgbClr val="595959"/>
                </a:solidFill>
                <a:latin typeface="Calibri"/>
                <a:cs typeface="Calibri"/>
              </a:rPr>
              <a:t>Slide 7</a:t>
            </a:r>
          </a:p>
        </p:txBody>
      </p:sp>
      <p:sp>
        <p:nvSpPr>
          <p:cNvPr id="23" name="Date Placeholder"/>
          <p:cNvSpPr>
            <a:spLocks noGrp="1"/>
          </p:cNvSpPr>
          <p:nvPr>
            <p:ph type="dt" sz="half" idx="10"/>
          </p:nvPr>
        </p:nvSpPr>
        <p:spPr/>
        <p:txBody>
          <a:bodyPr/>
          <a:lstStyle/>
          <a:p>
            <a:fld id="{32179801-AD4A-4368-9C25-F8FFDCCA9D13}" type="datetime1">
              <a:rPr lang="en-US"/>
              <a:t>9/19/2026</a:t>
            </a:fld>
            <a:endParaRPr lang="en-US"/>
          </a:p>
        </p:txBody>
      </p:sp>
      <p:sp>
        <p:nvSpPr>
          <p:cNvPr id="24" name="Slide Number Placeholder"/>
          <p:cNvSpPr>
            <a:spLocks noGrp="1"/>
          </p:cNvSpPr>
          <p:nvPr>
            <p:ph type="sldNum" sz="quarter" idx="12"/>
          </p:nvPr>
        </p:nvSpPr>
        <p:spPr/>
        <p:txBody>
          <a:bodyPr/>
          <a:lstStyle/>
          <a:p>
            <a:fld id="{7EED5C5B-9EF4-44F9-8A5E-F9CA765F3D63}"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Bar"/>
          <p:cNvSpPr/>
          <p:nvPr/>
        </p:nvSpPr>
        <p:spPr>
          <a:xfrm>
            <a:off x="3200000" y="230000"/>
            <a:ext cx="8150000" cy="560000"/>
          </a:xfrm>
          <a:prstGeom prst="roundRect">
            <a:avLst>
              <a:gd name="adj" fmla="val 16667"/>
            </a:avLst>
          </a:prstGeom>
          <a:solidFill>
            <a:srgbClr val="C00000"/>
          </a:solidFill>
          <a:ln>
            <a:noFill/>
          </a:ln>
        </p:spPr>
        <p:txBody>
          <a:bodyPr wrap="square" lIns="0" tIns="0" rIns="0" bIns="0" rtlCol="0" anchor="ctr">
            <a:noAutofit/>
          </a:bodyPr>
          <a:lstStyle/>
          <a:p>
            <a:pPr algn="ctr">
              <a:spcBef>
                <a:spcPts val="0"/>
              </a:spcBef>
              <a:spcAft>
                <a:spcPts val="0"/>
              </a:spcAft>
              <a:buNone/>
            </a:pPr>
            <a:r>
              <a:rPr lang="en-US" sz="2800" b="1" i="0" dirty="0">
                <a:solidFill>
                  <a:srgbClr val="FFFFFF"/>
                </a:solidFill>
                <a:latin typeface="Calibri"/>
                <a:cs typeface="Calibri"/>
              </a:rPr>
              <a:t>Abstract</a:t>
            </a:r>
          </a:p>
        </p:txBody>
      </p:sp>
      <p:sp>
        <p:nvSpPr>
          <p:cNvPr id="3" name="Abstract Card"/>
          <p:cNvSpPr/>
          <p:nvPr/>
        </p:nvSpPr>
        <p:spPr>
          <a:xfrm>
            <a:off x="3200000" y="1150000"/>
            <a:ext cx="5300000" cy="4950000"/>
          </a:xfrm>
          <a:prstGeom prst="roundRect">
            <a:avLst>
              <a:gd name="adj" fmla="val 5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4" name="Abstract Text"/>
          <p:cNvSpPr txBox="1"/>
          <p:nvPr/>
        </p:nvSpPr>
        <p:spPr>
          <a:xfrm>
            <a:off x="3200000" y="1150000"/>
            <a:ext cx="5300000" cy="4950000"/>
          </a:xfrm>
          <a:prstGeom prst="rect">
            <a:avLst/>
          </a:prstGeom>
          <a:noFill/>
          <a:ln>
            <a:noFill/>
          </a:ln>
        </p:spPr>
        <p:txBody>
          <a:bodyPr wrap="square" lIns="280000" tIns="200000" rIns="280000" bIns="200000" rtlCol="0" anchor="ctr">
            <a:noAutofit/>
          </a:bodyPr>
          <a:lstStyle/>
          <a:p>
            <a:pPr algn="l">
              <a:lnSpc>
                <a:spcPct val="115000"/>
              </a:lnSpc>
              <a:spcBef>
                <a:spcPts val="0"/>
              </a:spcBef>
              <a:spcAft>
                <a:spcPts val="0"/>
              </a:spcAft>
              <a:buNone/>
            </a:pPr>
            <a:r>
              <a:rPr lang="en-US" sz="1700" b="0" i="0" dirty="0">
                <a:solidFill>
                  <a:srgbClr val="262626"/>
                </a:solidFill>
                <a:latin typeface="Calibri"/>
                <a:cs typeface="Calibri"/>
              </a:rPr>
              <a:t>Manual backups are repetitive and error-prone, often leaving files outdated or missing. This project presents a Linux file backup and synchronization utility, written in C, that works directly at the system-call level. The program scans a source directory, compares each file’s size and modification time with its backup copy using stat(), and copies only new or changed files through open(), read(), write() and close(). Errors are reported without interrupting the run, and a summary is displayed at the end. The project also demonstrates how user-space applications interact with the Linux kernel.</a:t>
            </a:r>
          </a:p>
        </p:txBody>
      </p:sp>
      <p:sp>
        <p:nvSpPr>
          <p:cNvPr id="5" name="Highlight 1"/>
          <p:cNvSpPr/>
          <p:nvPr/>
        </p:nvSpPr>
        <p:spPr>
          <a:xfrm>
            <a:off x="8730000" y="1150000"/>
            <a:ext cx="2620000" cy="1100000"/>
          </a:xfrm>
          <a:prstGeom prst="roundRect">
            <a:avLst>
              <a:gd name="adj" fmla="val 8000"/>
            </a:avLst>
          </a:prstGeom>
          <a:solidFill>
            <a:srgbClr val="FBEBEB"/>
          </a:solidFill>
          <a:ln>
            <a:noFill/>
          </a:ln>
        </p:spPr>
        <p:txBody>
          <a:bodyPr wrap="square" lIns="200000" tIns="60000" rIns="150000" bIns="60000" rtlCol="0" anchor="ctr">
            <a:noAutofit/>
          </a:bodyPr>
          <a:lstStyle/>
          <a:p>
            <a:pPr algn="l">
              <a:spcBef>
                <a:spcPts val="0"/>
              </a:spcBef>
              <a:spcAft>
                <a:spcPts val="300"/>
              </a:spcAft>
              <a:buNone/>
            </a:pPr>
            <a:r>
              <a:rPr lang="en-US" sz="1200" b="1" i="0" dirty="0">
                <a:solidFill>
                  <a:srgbClr val="C00000"/>
                </a:solidFill>
                <a:latin typeface="Calibri"/>
                <a:cs typeface="Calibri"/>
              </a:rPr>
              <a:t>LANGUAGE</a:t>
            </a:r>
          </a:p>
          <a:p>
            <a:pPr algn="l">
              <a:spcBef>
                <a:spcPts val="0"/>
              </a:spcBef>
              <a:spcAft>
                <a:spcPts val="0"/>
              </a:spcAft>
              <a:buNone/>
            </a:pPr>
            <a:r>
              <a:rPr lang="en-US" sz="1700" b="1" i="0" dirty="0">
                <a:solidFill>
                  <a:srgbClr val="262626"/>
                </a:solidFill>
                <a:latin typeface="Calibri"/>
                <a:cs typeface="Calibri"/>
              </a:rPr>
              <a:t>C on Linux</a:t>
            </a:r>
          </a:p>
        </p:txBody>
      </p:sp>
      <p:sp>
        <p:nvSpPr>
          <p:cNvPr id="6" name="Highlight 2"/>
          <p:cNvSpPr/>
          <p:nvPr/>
        </p:nvSpPr>
        <p:spPr>
          <a:xfrm>
            <a:off x="8730000" y="2433333"/>
            <a:ext cx="2620000" cy="1100000"/>
          </a:xfrm>
          <a:prstGeom prst="roundRect">
            <a:avLst>
              <a:gd name="adj" fmla="val 8000"/>
            </a:avLst>
          </a:prstGeom>
          <a:solidFill>
            <a:srgbClr val="FBEBEB"/>
          </a:solidFill>
          <a:ln>
            <a:noFill/>
          </a:ln>
        </p:spPr>
        <p:txBody>
          <a:bodyPr wrap="square" lIns="200000" tIns="60000" rIns="150000" bIns="60000" rtlCol="0" anchor="ctr">
            <a:noAutofit/>
          </a:bodyPr>
          <a:lstStyle/>
          <a:p>
            <a:pPr algn="l">
              <a:spcBef>
                <a:spcPts val="0"/>
              </a:spcBef>
              <a:spcAft>
                <a:spcPts val="300"/>
              </a:spcAft>
              <a:buNone/>
            </a:pPr>
            <a:r>
              <a:rPr lang="en-US" sz="1200" b="1" i="0" dirty="0">
                <a:solidFill>
                  <a:srgbClr val="C00000"/>
                </a:solidFill>
                <a:latin typeface="Calibri"/>
                <a:cs typeface="Calibri"/>
              </a:rPr>
              <a:t>SYSTEM CALLS</a:t>
            </a:r>
          </a:p>
          <a:p>
            <a:pPr algn="l">
              <a:spcBef>
                <a:spcPts val="0"/>
              </a:spcBef>
              <a:spcAft>
                <a:spcPts val="0"/>
              </a:spcAft>
              <a:buNone/>
            </a:pPr>
            <a:r>
              <a:rPr lang="en-US" sz="1700" b="1" i="0" dirty="0">
                <a:solidFill>
                  <a:srgbClr val="262626"/>
                </a:solidFill>
                <a:latin typeface="Calibri"/>
                <a:cs typeface="Calibri"/>
              </a:rPr>
              <a:t>open · read · write · stat</a:t>
            </a:r>
          </a:p>
        </p:txBody>
      </p:sp>
      <p:sp>
        <p:nvSpPr>
          <p:cNvPr id="7" name="Highlight 3"/>
          <p:cNvSpPr/>
          <p:nvPr/>
        </p:nvSpPr>
        <p:spPr>
          <a:xfrm>
            <a:off x="8730000" y="3716666"/>
            <a:ext cx="2620000" cy="1100000"/>
          </a:xfrm>
          <a:prstGeom prst="roundRect">
            <a:avLst>
              <a:gd name="adj" fmla="val 8000"/>
            </a:avLst>
          </a:prstGeom>
          <a:solidFill>
            <a:srgbClr val="FBEBEB"/>
          </a:solidFill>
          <a:ln>
            <a:noFill/>
          </a:ln>
        </p:spPr>
        <p:txBody>
          <a:bodyPr wrap="square" lIns="200000" tIns="60000" rIns="150000" bIns="60000" rtlCol="0" anchor="ctr">
            <a:noAutofit/>
          </a:bodyPr>
          <a:lstStyle/>
          <a:p>
            <a:pPr algn="l">
              <a:spcBef>
                <a:spcPts val="0"/>
              </a:spcBef>
              <a:spcAft>
                <a:spcPts val="300"/>
              </a:spcAft>
              <a:buNone/>
            </a:pPr>
            <a:r>
              <a:rPr lang="en-US" sz="1200" b="1" i="0" dirty="0">
                <a:solidFill>
                  <a:srgbClr val="C00000"/>
                </a:solidFill>
                <a:latin typeface="Calibri"/>
                <a:cs typeface="Calibri"/>
              </a:rPr>
              <a:t>CHANGE DETECTION</a:t>
            </a:r>
          </a:p>
          <a:p>
            <a:pPr algn="l">
              <a:spcBef>
                <a:spcPts val="0"/>
              </a:spcBef>
              <a:spcAft>
                <a:spcPts val="0"/>
              </a:spcAft>
              <a:buNone/>
            </a:pPr>
            <a:r>
              <a:rPr lang="en-US" sz="1700" b="1" i="0" dirty="0">
                <a:solidFill>
                  <a:srgbClr val="262626"/>
                </a:solidFill>
                <a:latin typeface="Calibri"/>
                <a:cs typeface="Calibri"/>
              </a:rPr>
              <a:t>File size and modified time</a:t>
            </a:r>
          </a:p>
        </p:txBody>
      </p:sp>
      <p:sp>
        <p:nvSpPr>
          <p:cNvPr id="8" name="Highlight 4"/>
          <p:cNvSpPr/>
          <p:nvPr/>
        </p:nvSpPr>
        <p:spPr>
          <a:xfrm>
            <a:off x="8730000" y="4999999"/>
            <a:ext cx="2620000" cy="1100000"/>
          </a:xfrm>
          <a:prstGeom prst="roundRect">
            <a:avLst>
              <a:gd name="adj" fmla="val 8000"/>
            </a:avLst>
          </a:prstGeom>
          <a:solidFill>
            <a:srgbClr val="FBEBEB"/>
          </a:solidFill>
          <a:ln>
            <a:noFill/>
          </a:ln>
        </p:spPr>
        <p:txBody>
          <a:bodyPr wrap="square" lIns="200000" tIns="60000" rIns="150000" bIns="60000" rtlCol="0" anchor="ctr">
            <a:noAutofit/>
          </a:bodyPr>
          <a:lstStyle/>
          <a:p>
            <a:pPr algn="l">
              <a:spcBef>
                <a:spcPts val="0"/>
              </a:spcBef>
              <a:spcAft>
                <a:spcPts val="300"/>
              </a:spcAft>
              <a:buNone/>
            </a:pPr>
            <a:r>
              <a:rPr lang="en-US" sz="1200" b="1" i="0" dirty="0">
                <a:solidFill>
                  <a:srgbClr val="C00000"/>
                </a:solidFill>
                <a:latin typeface="Calibri"/>
                <a:cs typeface="Calibri"/>
              </a:rPr>
              <a:t>SYNC MODE</a:t>
            </a:r>
          </a:p>
          <a:p>
            <a:pPr algn="l">
              <a:spcBef>
                <a:spcPts val="0"/>
              </a:spcBef>
              <a:spcAft>
                <a:spcPts val="0"/>
              </a:spcAft>
              <a:buNone/>
            </a:pPr>
            <a:r>
              <a:rPr lang="en-US" sz="1700" b="1" i="0" dirty="0">
                <a:solidFill>
                  <a:srgbClr val="262626"/>
                </a:solidFill>
                <a:latin typeface="Calibri"/>
                <a:cs typeface="Calibri"/>
              </a:rPr>
              <a:t>One-way, incremental</a:t>
            </a:r>
          </a:p>
        </p:txBody>
      </p:sp>
      <p:sp>
        <p:nvSpPr>
          <p:cNvPr id="9" name="Date Placeholder"/>
          <p:cNvSpPr>
            <a:spLocks noGrp="1"/>
          </p:cNvSpPr>
          <p:nvPr>
            <p:ph type="dt" sz="half" idx="10"/>
          </p:nvPr>
        </p:nvSpPr>
        <p:spPr/>
        <p:txBody>
          <a:bodyPr/>
          <a:lstStyle/>
          <a:p>
            <a:fld id="{32179801-AD4A-4368-9C25-F8FFDCCA9D13}" type="datetime1">
              <a:rPr lang="en-US"/>
              <a:t>9/19/2026</a:t>
            </a:fld>
            <a:endParaRPr lang="en-US"/>
          </a:p>
        </p:txBody>
      </p:sp>
      <p:sp>
        <p:nvSpPr>
          <p:cNvPr id="10" name="Slide Number Placeholder"/>
          <p:cNvSpPr>
            <a:spLocks noGrp="1"/>
          </p:cNvSpPr>
          <p:nvPr>
            <p:ph type="sldNum" sz="quarter" idx="12"/>
          </p:nvPr>
        </p:nvSpPr>
        <p:spPr/>
        <p:txBody>
          <a:bodyPr/>
          <a:lstStyle/>
          <a:p>
            <a:fld id="{7EED5C5B-9EF4-44F9-8A5E-F9CA765F3D63}" type="slidenum">
              <a:rPr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Bar"/>
          <p:cNvSpPr/>
          <p:nvPr/>
        </p:nvSpPr>
        <p:spPr>
          <a:xfrm>
            <a:off x="3200000" y="230000"/>
            <a:ext cx="8150000" cy="560000"/>
          </a:xfrm>
          <a:prstGeom prst="roundRect">
            <a:avLst>
              <a:gd name="adj" fmla="val 16667"/>
            </a:avLst>
          </a:prstGeom>
          <a:solidFill>
            <a:srgbClr val="C00000"/>
          </a:solidFill>
          <a:ln>
            <a:noFill/>
          </a:ln>
        </p:spPr>
        <p:txBody>
          <a:bodyPr wrap="square" lIns="0" tIns="0" rIns="0" bIns="0" rtlCol="0" anchor="ctr">
            <a:noAutofit/>
          </a:bodyPr>
          <a:lstStyle/>
          <a:p>
            <a:pPr algn="ctr">
              <a:spcBef>
                <a:spcPts val="0"/>
              </a:spcBef>
              <a:spcAft>
                <a:spcPts val="0"/>
              </a:spcAft>
              <a:buNone/>
            </a:pPr>
            <a:r>
              <a:rPr lang="en-US" sz="2800" b="1" i="0" dirty="0">
                <a:solidFill>
                  <a:srgbClr val="FFFFFF"/>
                </a:solidFill>
                <a:latin typeface="Calibri"/>
                <a:cs typeface="Calibri"/>
              </a:rPr>
              <a:t>Introduction</a:t>
            </a:r>
          </a:p>
        </p:txBody>
      </p:sp>
      <p:sp>
        <p:nvSpPr>
          <p:cNvPr id="3" name="Intro Lead"/>
          <p:cNvSpPr txBox="1"/>
          <p:nvPr/>
        </p:nvSpPr>
        <p:spPr>
          <a:xfrm>
            <a:off x="3200000" y="1050000"/>
            <a:ext cx="8150000" cy="900000"/>
          </a:xfrm>
          <a:prstGeom prst="rect">
            <a:avLst/>
          </a:prstGeom>
          <a:noFill/>
          <a:ln>
            <a:noFill/>
          </a:ln>
        </p:spPr>
        <p:txBody>
          <a:bodyPr wrap="square" lIns="0" tIns="0" rIns="0" bIns="0" rtlCol="0" anchor="ctr">
            <a:noAutofit/>
          </a:bodyPr>
          <a:lstStyle/>
          <a:p>
            <a:pPr algn="l">
              <a:lnSpc>
                <a:spcPct val="112000"/>
              </a:lnSpc>
              <a:spcBef>
                <a:spcPts val="0"/>
              </a:spcBef>
              <a:spcAft>
                <a:spcPts val="0"/>
              </a:spcAft>
              <a:buNone/>
            </a:pPr>
            <a:r>
              <a:rPr lang="en-US" sz="1500" b="0" i="0" dirty="0">
                <a:solidFill>
                  <a:srgbClr val="262626"/>
                </a:solidFill>
                <a:latin typeface="Calibri"/>
                <a:cs typeface="Calibri"/>
              </a:rPr>
              <a:t>Every Linux program that touches a file relies on system calls — the interface between user-space applications and the kernel. Manual backups are repetitive and error-prone; this project automates them with a lightweight tool built directly on that interface.</a:t>
            </a:r>
          </a:p>
        </p:txBody>
      </p:sp>
      <p:sp>
        <p:nvSpPr>
          <p:cNvPr id="4" name="Intro Card 1"/>
          <p:cNvSpPr/>
          <p:nvPr/>
        </p:nvSpPr>
        <p:spPr>
          <a:xfrm>
            <a:off x="3200000" y="2050000"/>
            <a:ext cx="2583333" cy="2300000"/>
          </a:xfrm>
          <a:prstGeom prst="roundRect">
            <a:avLst>
              <a:gd name="adj" fmla="val 5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5" name="Icon circle"/>
          <p:cNvSpPr/>
          <p:nvPr/>
        </p:nvSpPr>
        <p:spPr>
          <a:xfrm>
            <a:off x="3400000" y="2200000"/>
            <a:ext cx="520000" cy="520000"/>
          </a:xfrm>
          <a:prstGeom prst="ellipse">
            <a:avLst/>
          </a:prstGeom>
          <a:solidFill>
            <a:srgbClr val="C00000"/>
          </a:solidFill>
          <a:ln>
            <a:noFill/>
          </a:ln>
        </p:spPr>
        <p:txBody>
          <a:bodyPr wrap="square" lIns="0" tIns="0" rIns="0" bIns="0" rtlCol="0" anchor="t">
            <a:noAutofit/>
          </a:bodyPr>
          <a:lstStyle/>
          <a:p>
            <a:endParaRPr lang="en-US"/>
          </a:p>
        </p:txBody>
      </p:sp>
      <p:pic>
        <p:nvPicPr>
          <p:cNvPr id="6" name="Icon FiLayers" descr="User vs Kernel Space"/>
          <p:cNvPicPr>
            <a:picLocks noChangeAspect="1"/>
          </p:cNvPicPr>
          <p:nvPr/>
        </p:nvPicPr>
        <p:blipFill>
          <a:blip r:embed="rId2"/>
          <a:stretch>
            <a:fillRect/>
          </a:stretch>
        </p:blipFill>
        <p:spPr>
          <a:xfrm>
            <a:off x="3524800" y="2324800"/>
            <a:ext cx="270400" cy="270400"/>
          </a:xfrm>
          <a:prstGeom prst="rect">
            <a:avLst/>
          </a:prstGeom>
        </p:spPr>
      </p:pic>
      <p:sp>
        <p:nvSpPr>
          <p:cNvPr id="7" name="Intro Card Text 1"/>
          <p:cNvSpPr txBox="1"/>
          <p:nvPr/>
        </p:nvSpPr>
        <p:spPr>
          <a:xfrm>
            <a:off x="3400000" y="2800000"/>
            <a:ext cx="2183333" cy="1500000"/>
          </a:xfrm>
          <a:prstGeom prst="rect">
            <a:avLst/>
          </a:prstGeom>
          <a:noFill/>
          <a:ln>
            <a:noFill/>
          </a:ln>
        </p:spPr>
        <p:txBody>
          <a:bodyPr wrap="square" lIns="0" tIns="0" rIns="0" bIns="0" rtlCol="0" anchor="t">
            <a:noAutofit/>
          </a:bodyPr>
          <a:lstStyle/>
          <a:p>
            <a:pPr algn="l">
              <a:spcBef>
                <a:spcPts val="0"/>
              </a:spcBef>
              <a:spcAft>
                <a:spcPts val="400"/>
              </a:spcAft>
              <a:buNone/>
            </a:pPr>
            <a:r>
              <a:rPr lang="en-US" sz="1600" b="1" i="0" dirty="0">
                <a:solidFill>
                  <a:srgbClr val="262626"/>
                </a:solidFill>
                <a:latin typeface="Calibri"/>
                <a:cs typeface="Calibri"/>
              </a:rPr>
              <a:t>User vs Kernel Space</a:t>
            </a:r>
          </a:p>
          <a:p>
            <a:pPr algn="l">
              <a:lnSpc>
                <a:spcPct val="105000"/>
              </a:lnSpc>
              <a:spcBef>
                <a:spcPts val="0"/>
              </a:spcBef>
              <a:spcAft>
                <a:spcPts val="0"/>
              </a:spcAft>
              <a:buNone/>
            </a:pPr>
            <a:r>
              <a:rPr lang="en-US" sz="1400" b="0" i="0" dirty="0">
                <a:solidFill>
                  <a:srgbClr val="595959"/>
                </a:solidFill>
                <a:latin typeface="Calibri"/>
                <a:cs typeface="Calibri"/>
              </a:rPr>
              <a:t>Applications request file access through a controlled kernel interface, not direct hardware access.</a:t>
            </a:r>
          </a:p>
        </p:txBody>
      </p:sp>
      <p:sp>
        <p:nvSpPr>
          <p:cNvPr id="8" name="Intro Card 2"/>
          <p:cNvSpPr/>
          <p:nvPr/>
        </p:nvSpPr>
        <p:spPr>
          <a:xfrm>
            <a:off x="5983333" y="2050000"/>
            <a:ext cx="2583333" cy="2300000"/>
          </a:xfrm>
          <a:prstGeom prst="roundRect">
            <a:avLst>
              <a:gd name="adj" fmla="val 5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9" name="Icon circle"/>
          <p:cNvSpPr/>
          <p:nvPr/>
        </p:nvSpPr>
        <p:spPr>
          <a:xfrm>
            <a:off x="6183333" y="2200000"/>
            <a:ext cx="520000" cy="520000"/>
          </a:xfrm>
          <a:prstGeom prst="ellipse">
            <a:avLst/>
          </a:prstGeom>
          <a:solidFill>
            <a:srgbClr val="C00000"/>
          </a:solidFill>
          <a:ln>
            <a:noFill/>
          </a:ln>
        </p:spPr>
        <p:txBody>
          <a:bodyPr wrap="square" lIns="0" tIns="0" rIns="0" bIns="0" rtlCol="0" anchor="t">
            <a:noAutofit/>
          </a:bodyPr>
          <a:lstStyle/>
          <a:p>
            <a:endParaRPr lang="en-US"/>
          </a:p>
        </p:txBody>
      </p:sp>
      <p:pic>
        <p:nvPicPr>
          <p:cNvPr id="10" name="Icon FiShield" descr="Why Backups Matter"/>
          <p:cNvPicPr>
            <a:picLocks noChangeAspect="1"/>
          </p:cNvPicPr>
          <p:nvPr/>
        </p:nvPicPr>
        <p:blipFill>
          <a:blip r:embed="rId3"/>
          <a:stretch>
            <a:fillRect/>
          </a:stretch>
        </p:blipFill>
        <p:spPr>
          <a:xfrm>
            <a:off x="6308133" y="2324800"/>
            <a:ext cx="270400" cy="270400"/>
          </a:xfrm>
          <a:prstGeom prst="rect">
            <a:avLst/>
          </a:prstGeom>
        </p:spPr>
      </p:pic>
      <p:sp>
        <p:nvSpPr>
          <p:cNvPr id="11" name="Intro Card Text 2"/>
          <p:cNvSpPr txBox="1"/>
          <p:nvPr/>
        </p:nvSpPr>
        <p:spPr>
          <a:xfrm>
            <a:off x="6183333" y="2800000"/>
            <a:ext cx="2183333" cy="1500000"/>
          </a:xfrm>
          <a:prstGeom prst="rect">
            <a:avLst/>
          </a:prstGeom>
          <a:noFill/>
          <a:ln>
            <a:noFill/>
          </a:ln>
        </p:spPr>
        <p:txBody>
          <a:bodyPr wrap="square" lIns="0" tIns="0" rIns="0" bIns="0" rtlCol="0" anchor="t">
            <a:noAutofit/>
          </a:bodyPr>
          <a:lstStyle/>
          <a:p>
            <a:pPr algn="l">
              <a:spcBef>
                <a:spcPts val="0"/>
              </a:spcBef>
              <a:spcAft>
                <a:spcPts val="400"/>
              </a:spcAft>
              <a:buNone/>
            </a:pPr>
            <a:r>
              <a:rPr lang="en-US" sz="1600" b="1" i="0" dirty="0">
                <a:solidFill>
                  <a:srgbClr val="262626"/>
                </a:solidFill>
                <a:latin typeface="Calibri"/>
                <a:cs typeface="Calibri"/>
              </a:rPr>
              <a:t>Why Backups Matter</a:t>
            </a:r>
          </a:p>
          <a:p>
            <a:pPr algn="l">
              <a:lnSpc>
                <a:spcPct val="105000"/>
              </a:lnSpc>
              <a:spcBef>
                <a:spcPts val="0"/>
              </a:spcBef>
              <a:spcAft>
                <a:spcPts val="0"/>
              </a:spcAft>
              <a:buNone/>
            </a:pPr>
            <a:r>
              <a:rPr lang="en-US" sz="1400" b="0" i="0" dirty="0">
                <a:solidFill>
                  <a:srgbClr val="595959"/>
                </a:solidFill>
                <a:latin typeface="Calibri"/>
                <a:cs typeface="Calibri"/>
              </a:rPr>
              <a:t>A single copy of important data is fragile — accidental deletion or corruption can mean permanent loss.</a:t>
            </a:r>
          </a:p>
        </p:txBody>
      </p:sp>
      <p:sp>
        <p:nvSpPr>
          <p:cNvPr id="12" name="Intro Card 3"/>
          <p:cNvSpPr/>
          <p:nvPr/>
        </p:nvSpPr>
        <p:spPr>
          <a:xfrm>
            <a:off x="8766666" y="2050000"/>
            <a:ext cx="2583333" cy="2300000"/>
          </a:xfrm>
          <a:prstGeom prst="roundRect">
            <a:avLst>
              <a:gd name="adj" fmla="val 5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13" name="Icon circle"/>
          <p:cNvSpPr/>
          <p:nvPr/>
        </p:nvSpPr>
        <p:spPr>
          <a:xfrm>
            <a:off x="8966666" y="2200000"/>
            <a:ext cx="520000" cy="520000"/>
          </a:xfrm>
          <a:prstGeom prst="ellipse">
            <a:avLst/>
          </a:prstGeom>
          <a:solidFill>
            <a:srgbClr val="C00000"/>
          </a:solidFill>
          <a:ln>
            <a:noFill/>
          </a:ln>
        </p:spPr>
        <p:txBody>
          <a:bodyPr wrap="square" lIns="0" tIns="0" rIns="0" bIns="0" rtlCol="0" anchor="t">
            <a:noAutofit/>
          </a:bodyPr>
          <a:lstStyle/>
          <a:p>
            <a:endParaRPr lang="en-US"/>
          </a:p>
        </p:txBody>
      </p:sp>
      <p:pic>
        <p:nvPicPr>
          <p:cNvPr id="14" name="Icon FiCode" descr="Why System Calls"/>
          <p:cNvPicPr>
            <a:picLocks noChangeAspect="1"/>
          </p:cNvPicPr>
          <p:nvPr/>
        </p:nvPicPr>
        <p:blipFill>
          <a:blip r:embed="rId4"/>
          <a:stretch>
            <a:fillRect/>
          </a:stretch>
        </p:blipFill>
        <p:spPr>
          <a:xfrm>
            <a:off x="9091466" y="2324800"/>
            <a:ext cx="270400" cy="270400"/>
          </a:xfrm>
          <a:prstGeom prst="rect">
            <a:avLst/>
          </a:prstGeom>
        </p:spPr>
      </p:pic>
      <p:sp>
        <p:nvSpPr>
          <p:cNvPr id="15" name="Intro Card Text 3"/>
          <p:cNvSpPr txBox="1"/>
          <p:nvPr/>
        </p:nvSpPr>
        <p:spPr>
          <a:xfrm>
            <a:off x="8966666" y="2800000"/>
            <a:ext cx="2183333" cy="1500000"/>
          </a:xfrm>
          <a:prstGeom prst="rect">
            <a:avLst/>
          </a:prstGeom>
          <a:noFill/>
          <a:ln>
            <a:noFill/>
          </a:ln>
        </p:spPr>
        <p:txBody>
          <a:bodyPr wrap="square" lIns="0" tIns="0" rIns="0" bIns="0" rtlCol="0" anchor="t">
            <a:noAutofit/>
          </a:bodyPr>
          <a:lstStyle/>
          <a:p>
            <a:pPr algn="l">
              <a:spcBef>
                <a:spcPts val="0"/>
              </a:spcBef>
              <a:spcAft>
                <a:spcPts val="400"/>
              </a:spcAft>
              <a:buNone/>
            </a:pPr>
            <a:r>
              <a:rPr lang="en-US" sz="1600" b="1" i="0" dirty="0">
                <a:solidFill>
                  <a:srgbClr val="262626"/>
                </a:solidFill>
                <a:latin typeface="Calibri"/>
                <a:cs typeface="Calibri"/>
              </a:rPr>
              <a:t>Why System Calls</a:t>
            </a:r>
          </a:p>
          <a:p>
            <a:pPr algn="l">
              <a:lnSpc>
                <a:spcPct val="105000"/>
              </a:lnSpc>
              <a:spcBef>
                <a:spcPts val="0"/>
              </a:spcBef>
              <a:spcAft>
                <a:spcPts val="0"/>
              </a:spcAft>
              <a:buNone/>
            </a:pPr>
            <a:r>
              <a:rPr lang="en-US" sz="1400" b="0" i="0" dirty="0">
                <a:solidFill>
                  <a:srgbClr val="595959"/>
                </a:solidFill>
                <a:latin typeface="Calibri"/>
                <a:cs typeface="Calibri"/>
              </a:rPr>
              <a:t>Working directly with open(), read() and stat() makes operating-system concepts concrete.</a:t>
            </a:r>
          </a:p>
        </p:txBody>
      </p:sp>
      <p:sp>
        <p:nvSpPr>
          <p:cNvPr id="16" name="Objectives Label"/>
          <p:cNvSpPr txBox="1"/>
          <p:nvPr/>
        </p:nvSpPr>
        <p:spPr>
          <a:xfrm>
            <a:off x="3200000" y="4500000"/>
            <a:ext cx="8150000" cy="380000"/>
          </a:xfrm>
          <a:prstGeom prst="rect">
            <a:avLst/>
          </a:prstGeom>
          <a:noFill/>
          <a:ln>
            <a:noFill/>
          </a:ln>
        </p:spPr>
        <p:txBody>
          <a:bodyPr wrap="square" lIns="0" tIns="0" rIns="0" bIns="0" rtlCol="0" anchor="ctr">
            <a:noAutofit/>
          </a:bodyPr>
          <a:lstStyle/>
          <a:p>
            <a:pPr algn="l">
              <a:spcBef>
                <a:spcPts val="0"/>
              </a:spcBef>
              <a:spcAft>
                <a:spcPts val="0"/>
              </a:spcAft>
              <a:buNone/>
            </a:pPr>
            <a:r>
              <a:rPr lang="en-US" sz="1800" b="1" i="0" dirty="0">
                <a:solidFill>
                  <a:srgbClr val="C00000"/>
                </a:solidFill>
                <a:latin typeface="Calibri"/>
                <a:cs typeface="Calibri"/>
              </a:rPr>
              <a:t>Project Objectives</a:t>
            </a:r>
          </a:p>
        </p:txBody>
      </p:sp>
      <p:sp>
        <p:nvSpPr>
          <p:cNvPr id="17" name="Icon circle"/>
          <p:cNvSpPr/>
          <p:nvPr/>
        </p:nvSpPr>
        <p:spPr>
          <a:xfrm>
            <a:off x="3200000" y="5010000"/>
            <a:ext cx="380000" cy="380000"/>
          </a:xfrm>
          <a:prstGeom prst="ellipse">
            <a:avLst/>
          </a:prstGeom>
          <a:solidFill>
            <a:srgbClr val="C00000"/>
          </a:solidFill>
          <a:ln>
            <a:noFill/>
          </a:ln>
        </p:spPr>
        <p:txBody>
          <a:bodyPr wrap="square" lIns="0" tIns="0" rIns="0" bIns="0" rtlCol="0" anchor="t">
            <a:noAutofit/>
          </a:bodyPr>
          <a:lstStyle/>
          <a:p>
            <a:endParaRPr lang="en-US"/>
          </a:p>
        </p:txBody>
      </p:sp>
      <p:pic>
        <p:nvPicPr>
          <p:cNvPr id="18" name="Icon FiCheck" descr="Objective"/>
          <p:cNvPicPr>
            <a:picLocks noChangeAspect="1"/>
          </p:cNvPicPr>
          <p:nvPr/>
        </p:nvPicPr>
        <p:blipFill>
          <a:blip r:embed="rId5"/>
          <a:stretch>
            <a:fillRect/>
          </a:stretch>
        </p:blipFill>
        <p:spPr>
          <a:xfrm>
            <a:off x="3291200" y="5101200"/>
            <a:ext cx="197600" cy="197600"/>
          </a:xfrm>
          <a:prstGeom prst="rect">
            <a:avLst/>
          </a:prstGeom>
        </p:spPr>
      </p:pic>
      <p:sp>
        <p:nvSpPr>
          <p:cNvPr id="19" name="Objective 1"/>
          <p:cNvSpPr txBox="1"/>
          <p:nvPr/>
        </p:nvSpPr>
        <p:spPr>
          <a:xfrm>
            <a:off x="3700000" y="4950000"/>
            <a:ext cx="3475000" cy="5000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US" sz="1400" b="0" i="0" dirty="0">
                <a:solidFill>
                  <a:srgbClr val="262626"/>
                </a:solidFill>
                <a:latin typeface="Calibri"/>
                <a:cs typeface="Calibri"/>
              </a:rPr>
              <a:t>Build a Linux backup application in C using system calls</a:t>
            </a:r>
          </a:p>
        </p:txBody>
      </p:sp>
      <p:sp>
        <p:nvSpPr>
          <p:cNvPr id="20" name="Icon circle"/>
          <p:cNvSpPr/>
          <p:nvPr/>
        </p:nvSpPr>
        <p:spPr>
          <a:xfrm>
            <a:off x="7375000" y="5010000"/>
            <a:ext cx="380000" cy="380000"/>
          </a:xfrm>
          <a:prstGeom prst="ellipse">
            <a:avLst/>
          </a:prstGeom>
          <a:solidFill>
            <a:srgbClr val="C00000"/>
          </a:solidFill>
          <a:ln>
            <a:noFill/>
          </a:ln>
        </p:spPr>
        <p:txBody>
          <a:bodyPr wrap="square" lIns="0" tIns="0" rIns="0" bIns="0" rtlCol="0" anchor="t">
            <a:noAutofit/>
          </a:bodyPr>
          <a:lstStyle/>
          <a:p>
            <a:endParaRPr lang="en-US"/>
          </a:p>
        </p:txBody>
      </p:sp>
      <p:pic>
        <p:nvPicPr>
          <p:cNvPr id="21" name="Icon FiCheck" descr="Objective"/>
          <p:cNvPicPr>
            <a:picLocks noChangeAspect="1"/>
          </p:cNvPicPr>
          <p:nvPr/>
        </p:nvPicPr>
        <p:blipFill>
          <a:blip r:embed="rId5"/>
          <a:stretch>
            <a:fillRect/>
          </a:stretch>
        </p:blipFill>
        <p:spPr>
          <a:xfrm>
            <a:off x="7466200" y="5101200"/>
            <a:ext cx="197600" cy="197600"/>
          </a:xfrm>
          <a:prstGeom prst="rect">
            <a:avLst/>
          </a:prstGeom>
        </p:spPr>
      </p:pic>
      <p:sp>
        <p:nvSpPr>
          <p:cNvPr id="22" name="Objective 2"/>
          <p:cNvSpPr txBox="1"/>
          <p:nvPr/>
        </p:nvSpPr>
        <p:spPr>
          <a:xfrm>
            <a:off x="7875000" y="4950000"/>
            <a:ext cx="3475000" cy="5000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US" sz="1400" b="0" i="0" dirty="0">
                <a:solidFill>
                  <a:srgbClr val="262626"/>
                </a:solidFill>
                <a:latin typeface="Calibri"/>
                <a:cs typeface="Calibri"/>
              </a:rPr>
              <a:t>Copy files safely through file descriptors</a:t>
            </a:r>
          </a:p>
        </p:txBody>
      </p:sp>
      <p:sp>
        <p:nvSpPr>
          <p:cNvPr id="23" name="Icon circle"/>
          <p:cNvSpPr/>
          <p:nvPr/>
        </p:nvSpPr>
        <p:spPr>
          <a:xfrm>
            <a:off x="3200000" y="5610000"/>
            <a:ext cx="380000" cy="380000"/>
          </a:xfrm>
          <a:prstGeom prst="ellipse">
            <a:avLst/>
          </a:prstGeom>
          <a:solidFill>
            <a:srgbClr val="C00000"/>
          </a:solidFill>
          <a:ln>
            <a:noFill/>
          </a:ln>
        </p:spPr>
        <p:txBody>
          <a:bodyPr wrap="square" lIns="0" tIns="0" rIns="0" bIns="0" rtlCol="0" anchor="t">
            <a:noAutofit/>
          </a:bodyPr>
          <a:lstStyle/>
          <a:p>
            <a:endParaRPr lang="en-US"/>
          </a:p>
        </p:txBody>
      </p:sp>
      <p:pic>
        <p:nvPicPr>
          <p:cNvPr id="24" name="Icon FiCheck" descr="Objective"/>
          <p:cNvPicPr>
            <a:picLocks noChangeAspect="1"/>
          </p:cNvPicPr>
          <p:nvPr/>
        </p:nvPicPr>
        <p:blipFill>
          <a:blip r:embed="rId5"/>
          <a:stretch>
            <a:fillRect/>
          </a:stretch>
        </p:blipFill>
        <p:spPr>
          <a:xfrm>
            <a:off x="3291200" y="5701200"/>
            <a:ext cx="197600" cy="197600"/>
          </a:xfrm>
          <a:prstGeom prst="rect">
            <a:avLst/>
          </a:prstGeom>
        </p:spPr>
      </p:pic>
      <p:sp>
        <p:nvSpPr>
          <p:cNvPr id="25" name="Objective 3"/>
          <p:cNvSpPr txBox="1"/>
          <p:nvPr/>
        </p:nvSpPr>
        <p:spPr>
          <a:xfrm>
            <a:off x="3700000" y="5550000"/>
            <a:ext cx="3475000" cy="5000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US" sz="1400" b="0" i="0" dirty="0">
                <a:solidFill>
                  <a:srgbClr val="262626"/>
                </a:solidFill>
                <a:latin typeface="Calibri"/>
                <a:cs typeface="Calibri"/>
              </a:rPr>
              <a:t>Detect and synchronize changed files using metadata</a:t>
            </a:r>
          </a:p>
        </p:txBody>
      </p:sp>
      <p:sp>
        <p:nvSpPr>
          <p:cNvPr id="26" name="Icon circle"/>
          <p:cNvSpPr/>
          <p:nvPr/>
        </p:nvSpPr>
        <p:spPr>
          <a:xfrm>
            <a:off x="7375000" y="5610000"/>
            <a:ext cx="380000" cy="380000"/>
          </a:xfrm>
          <a:prstGeom prst="ellipse">
            <a:avLst/>
          </a:prstGeom>
          <a:solidFill>
            <a:srgbClr val="C00000"/>
          </a:solidFill>
          <a:ln>
            <a:noFill/>
          </a:ln>
        </p:spPr>
        <p:txBody>
          <a:bodyPr wrap="square" lIns="0" tIns="0" rIns="0" bIns="0" rtlCol="0" anchor="t">
            <a:noAutofit/>
          </a:bodyPr>
          <a:lstStyle/>
          <a:p>
            <a:endParaRPr lang="en-US"/>
          </a:p>
        </p:txBody>
      </p:sp>
      <p:pic>
        <p:nvPicPr>
          <p:cNvPr id="27" name="Icon FiCheck" descr="Objective"/>
          <p:cNvPicPr>
            <a:picLocks noChangeAspect="1"/>
          </p:cNvPicPr>
          <p:nvPr/>
        </p:nvPicPr>
        <p:blipFill>
          <a:blip r:embed="rId5"/>
          <a:stretch>
            <a:fillRect/>
          </a:stretch>
        </p:blipFill>
        <p:spPr>
          <a:xfrm>
            <a:off x="7466200" y="5701200"/>
            <a:ext cx="197600" cy="197600"/>
          </a:xfrm>
          <a:prstGeom prst="rect">
            <a:avLst/>
          </a:prstGeom>
        </p:spPr>
      </p:pic>
      <p:sp>
        <p:nvSpPr>
          <p:cNvPr id="28" name="Objective 4"/>
          <p:cNvSpPr txBox="1"/>
          <p:nvPr/>
        </p:nvSpPr>
        <p:spPr>
          <a:xfrm>
            <a:off x="7875000" y="5550000"/>
            <a:ext cx="3475000" cy="5000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US" sz="1400" b="0" i="0" dirty="0">
                <a:solidFill>
                  <a:srgbClr val="262626"/>
                </a:solidFill>
                <a:latin typeface="Calibri"/>
                <a:cs typeface="Calibri"/>
              </a:rPr>
              <a:t>Demonstrate permissions and user/kernel-space interaction</a:t>
            </a:r>
          </a:p>
        </p:txBody>
      </p:sp>
      <p:sp>
        <p:nvSpPr>
          <p:cNvPr id="29" name="Date Placeholder"/>
          <p:cNvSpPr>
            <a:spLocks noGrp="1"/>
          </p:cNvSpPr>
          <p:nvPr>
            <p:ph type="dt" sz="half" idx="10"/>
          </p:nvPr>
        </p:nvSpPr>
        <p:spPr/>
        <p:txBody>
          <a:bodyPr/>
          <a:lstStyle/>
          <a:p>
            <a:fld id="{32179801-AD4A-4368-9C25-F8FFDCCA9D13}" type="datetime1">
              <a:rPr lang="en-US"/>
              <a:t>9/19/2026</a:t>
            </a:fld>
            <a:endParaRPr lang="en-US"/>
          </a:p>
        </p:txBody>
      </p:sp>
      <p:sp>
        <p:nvSpPr>
          <p:cNvPr id="30" name="Slide Number Placeholder"/>
          <p:cNvSpPr>
            <a:spLocks noGrp="1"/>
          </p:cNvSpPr>
          <p:nvPr>
            <p:ph type="sldNum" sz="quarter" idx="12"/>
          </p:nvPr>
        </p:nvSpPr>
        <p:spPr/>
        <p:txBody>
          <a:bodyPr/>
          <a:lstStyle/>
          <a:p>
            <a:fld id="{7EED5C5B-9EF4-44F9-8A5E-F9CA765F3D63}" type="slidenum">
              <a:rPr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Bar"/>
          <p:cNvSpPr/>
          <p:nvPr/>
        </p:nvSpPr>
        <p:spPr>
          <a:xfrm>
            <a:off x="3200000" y="230000"/>
            <a:ext cx="8150000" cy="560000"/>
          </a:xfrm>
          <a:prstGeom prst="roundRect">
            <a:avLst>
              <a:gd name="adj" fmla="val 16667"/>
            </a:avLst>
          </a:prstGeom>
          <a:solidFill>
            <a:srgbClr val="C00000"/>
          </a:solidFill>
          <a:ln>
            <a:noFill/>
          </a:ln>
        </p:spPr>
        <p:txBody>
          <a:bodyPr wrap="square" lIns="0" tIns="0" rIns="0" bIns="0" rtlCol="0" anchor="ctr">
            <a:noAutofit/>
          </a:bodyPr>
          <a:lstStyle/>
          <a:p>
            <a:pPr algn="ctr">
              <a:spcBef>
                <a:spcPts val="0"/>
              </a:spcBef>
              <a:spcAft>
                <a:spcPts val="0"/>
              </a:spcAft>
              <a:buNone/>
            </a:pPr>
            <a:r>
              <a:rPr lang="en-US" sz="2800" b="1" i="0" dirty="0">
                <a:solidFill>
                  <a:srgbClr val="FFFFFF"/>
                </a:solidFill>
                <a:latin typeface="Calibri"/>
                <a:cs typeface="Calibri"/>
              </a:rPr>
              <a:t>Hardware and Software Requirements</a:t>
            </a:r>
          </a:p>
        </p:txBody>
      </p:sp>
      <p:graphicFrame>
        <p:nvGraphicFramePr>
          <p:cNvPr id="3" name="Requirements Table"/>
          <p:cNvGraphicFramePr>
            <a:graphicFrameLocks noGrp="1"/>
          </p:cNvGraphicFramePr>
          <p:nvPr/>
        </p:nvGraphicFramePr>
        <p:xfrm>
          <a:off x="3200000" y="1150000"/>
          <a:ext cx="8150000" cy="4800000"/>
        </p:xfrm>
        <a:graphic>
          <a:graphicData uri="http://schemas.openxmlformats.org/drawingml/2006/table">
            <a:tbl>
              <a:tblPr firstRow="1"/>
              <a:tblGrid>
                <a:gridCol w="1600000"/>
                <a:gridCol w="2000000"/>
                <a:gridCol w="4550000"/>
              </a:tblGrid>
              <a:tr h="480000">
                <a:tc>
                  <a:txBody>
                    <a:bodyPr/>
                    <a:lstStyle/>
                    <a:p>
                      <a:pPr algn="l">
                        <a:spcBef>
                          <a:spcPts val="0"/>
                        </a:spcBef>
                        <a:spcAft>
                          <a:spcPts val="0"/>
                        </a:spcAft>
                        <a:buNone/>
                      </a:pPr>
                      <a:r>
                        <a:rPr lang="en-US" sz="1500" b="1" i="0" dirty="0">
                          <a:solidFill>
                            <a:srgbClr val="FFFFFF"/>
                          </a:solidFill>
                          <a:latin typeface="Calibri"/>
                          <a:cs typeface="Calibri"/>
                        </a:rPr>
                        <a:t>Category</a:t>
                      </a:r>
                    </a:p>
                  </a:txBody>
                  <a:tcPr marL="91440" marR="91440" marT="45720" marB="45720" anchor="ctr">
                    <a:lnL w="9525">
                      <a:solidFill>
                        <a:srgbClr val="C00000"/>
                      </a:solidFill>
                    </a:lnL>
                    <a:lnR w="9525">
                      <a:solidFill>
                        <a:srgbClr val="C00000"/>
                      </a:solidFill>
                    </a:lnR>
                    <a:lnT w="9525">
                      <a:solidFill>
                        <a:srgbClr val="C00000"/>
                      </a:solidFill>
                    </a:lnT>
                    <a:lnB w="9525">
                      <a:solidFill>
                        <a:srgbClr val="C00000"/>
                      </a:solidFill>
                    </a:lnB>
                    <a:solidFill>
                      <a:srgbClr val="C00000"/>
                    </a:solidFill>
                  </a:tcPr>
                </a:tc>
                <a:tc>
                  <a:txBody>
                    <a:bodyPr/>
                    <a:lstStyle/>
                    <a:p>
                      <a:pPr algn="l">
                        <a:spcBef>
                          <a:spcPts val="0"/>
                        </a:spcBef>
                        <a:spcAft>
                          <a:spcPts val="0"/>
                        </a:spcAft>
                        <a:buNone/>
                      </a:pPr>
                      <a:r>
                        <a:rPr lang="en-US" sz="1500" b="1" i="0" dirty="0">
                          <a:solidFill>
                            <a:srgbClr val="FFFFFF"/>
                          </a:solidFill>
                          <a:latin typeface="Calibri"/>
                          <a:cs typeface="Calibri"/>
                        </a:rPr>
                        <a:t>Component</a:t>
                      </a:r>
                    </a:p>
                  </a:txBody>
                  <a:tcPr marL="91440" marR="91440" marT="45720" marB="45720" anchor="ctr">
                    <a:lnL w="9525">
                      <a:solidFill>
                        <a:srgbClr val="C00000"/>
                      </a:solidFill>
                    </a:lnL>
                    <a:lnR w="9525">
                      <a:solidFill>
                        <a:srgbClr val="C00000"/>
                      </a:solidFill>
                    </a:lnR>
                    <a:lnT w="9525">
                      <a:solidFill>
                        <a:srgbClr val="C00000"/>
                      </a:solidFill>
                    </a:lnT>
                    <a:lnB w="9525">
                      <a:solidFill>
                        <a:srgbClr val="C00000"/>
                      </a:solidFill>
                    </a:lnB>
                    <a:solidFill>
                      <a:srgbClr val="C00000"/>
                    </a:solidFill>
                  </a:tcPr>
                </a:tc>
                <a:tc>
                  <a:txBody>
                    <a:bodyPr/>
                    <a:lstStyle/>
                    <a:p>
                      <a:pPr algn="l">
                        <a:spcBef>
                          <a:spcPts val="0"/>
                        </a:spcBef>
                        <a:spcAft>
                          <a:spcPts val="0"/>
                        </a:spcAft>
                        <a:buNone/>
                      </a:pPr>
                      <a:r>
                        <a:rPr lang="en-US" sz="1500" b="1" i="0" dirty="0">
                          <a:solidFill>
                            <a:srgbClr val="FFFFFF"/>
                          </a:solidFill>
                          <a:latin typeface="Calibri"/>
                          <a:cs typeface="Calibri"/>
                        </a:rPr>
                        <a:t>Requirement</a:t>
                      </a:r>
                    </a:p>
                  </a:txBody>
                  <a:tcPr marL="91440" marR="91440" marT="45720" marB="45720" anchor="ctr">
                    <a:lnL w="9525">
                      <a:solidFill>
                        <a:srgbClr val="C00000"/>
                      </a:solidFill>
                    </a:lnL>
                    <a:lnR w="9525">
                      <a:solidFill>
                        <a:srgbClr val="C00000"/>
                      </a:solidFill>
                    </a:lnR>
                    <a:lnT w="9525">
                      <a:solidFill>
                        <a:srgbClr val="C00000"/>
                      </a:solidFill>
                    </a:lnT>
                    <a:lnB w="9525">
                      <a:solidFill>
                        <a:srgbClr val="C00000"/>
                      </a:solidFill>
                    </a:lnB>
                    <a:solidFill>
                      <a:srgbClr val="C00000"/>
                    </a:solidFill>
                  </a:tcPr>
                </a:tc>
              </a:tr>
              <a:tr h="480000">
                <a:tc rowSpan="4">
                  <a:txBody>
                    <a:bodyPr/>
                    <a:lstStyle/>
                    <a:p>
                      <a:pPr algn="ctr">
                        <a:spcBef>
                          <a:spcPts val="0"/>
                        </a:spcBef>
                        <a:spcAft>
                          <a:spcPts val="0"/>
                        </a:spcAft>
                        <a:buNone/>
                      </a:pPr>
                      <a:r>
                        <a:rPr lang="en-US" sz="1600" b="1" i="0" dirty="0">
                          <a:solidFill>
                            <a:srgbClr val="C00000"/>
                          </a:solidFill>
                          <a:latin typeface="Calibri"/>
                          <a:cs typeface="Calibri"/>
                        </a:rPr>
                        <a:t>Hardware</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BEBEB"/>
                    </a:solidFill>
                  </a:tcPr>
                </a:tc>
                <a:tc>
                  <a:txBody>
                    <a:bodyPr/>
                    <a:lstStyle/>
                    <a:p>
                      <a:pPr algn="l">
                        <a:spcBef>
                          <a:spcPts val="0"/>
                        </a:spcBef>
                        <a:spcAft>
                          <a:spcPts val="0"/>
                        </a:spcAft>
                        <a:buNone/>
                      </a:pPr>
                      <a:r>
                        <a:rPr lang="en-US" sz="1400" b="1" i="0" dirty="0">
                          <a:solidFill>
                            <a:srgbClr val="262626"/>
                          </a:solidFill>
                          <a:latin typeface="Calibri"/>
                          <a:cs typeface="Calibri"/>
                        </a:rPr>
                        <a:t>Processor</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algn="l">
                        <a:spcBef>
                          <a:spcPts val="0"/>
                        </a:spcBef>
                        <a:spcAft>
                          <a:spcPts val="0"/>
                        </a:spcAft>
                        <a:buNone/>
                      </a:pPr>
                      <a:r>
                        <a:rPr lang="en-US" sz="1400" b="0" i="0" dirty="0">
                          <a:solidFill>
                            <a:srgbClr val="262626"/>
                          </a:solidFill>
                          <a:latin typeface="Calibri"/>
                          <a:cs typeface="Calibri"/>
                        </a:rPr>
                        <a:t>x86_64 or ARM64 machine capable of running Linux</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r>
              <a:tr h="480000">
                <a:tc vMerge="1">
                  <a:txBody>
                    <a:bodyPr/>
                    <a:lstStyle/>
                    <a:p>
                      <a:endParaRPr lang="en-US"/>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BEBEB"/>
                    </a:solidFill>
                  </a:tcPr>
                </a:tc>
                <a:tc>
                  <a:txBody>
                    <a:bodyPr/>
                    <a:lstStyle/>
                    <a:p>
                      <a:pPr algn="l">
                        <a:spcBef>
                          <a:spcPts val="0"/>
                        </a:spcBef>
                        <a:spcAft>
                          <a:spcPts val="0"/>
                        </a:spcAft>
                        <a:buNone/>
                      </a:pPr>
                      <a:r>
                        <a:rPr lang="en-US" sz="1400" b="1" i="0" dirty="0">
                          <a:solidFill>
                            <a:srgbClr val="262626"/>
                          </a:solidFill>
                          <a:latin typeface="Calibri"/>
                          <a:cs typeface="Calibri"/>
                        </a:rPr>
                        <a:t>Memory (RAM)</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algn="l">
                        <a:spcBef>
                          <a:spcPts val="0"/>
                        </a:spcBef>
                        <a:spcAft>
                          <a:spcPts val="0"/>
                        </a:spcAft>
                        <a:buNone/>
                      </a:pPr>
                      <a:r>
                        <a:rPr lang="en-US" sz="1400" b="0" i="0" dirty="0">
                          <a:solidFill>
                            <a:srgbClr val="262626"/>
                          </a:solidFill>
                          <a:latin typeface="Calibri"/>
                          <a:cs typeface="Calibri"/>
                        </a:rPr>
                        <a:t>Minimum 2 GB</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r>
              <a:tr h="480000">
                <a:tc vMerge="1">
                  <a:txBody>
                    <a:bodyPr/>
                    <a:lstStyle/>
                    <a:p>
                      <a:endParaRPr lang="en-US"/>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BEBEB"/>
                    </a:solidFill>
                  </a:tcPr>
                </a:tc>
                <a:tc>
                  <a:txBody>
                    <a:bodyPr/>
                    <a:lstStyle/>
                    <a:p>
                      <a:pPr algn="l">
                        <a:spcBef>
                          <a:spcPts val="0"/>
                        </a:spcBef>
                        <a:spcAft>
                          <a:spcPts val="0"/>
                        </a:spcAft>
                        <a:buNone/>
                      </a:pPr>
                      <a:r>
                        <a:rPr lang="en-US" sz="1400" b="1" i="0" dirty="0">
                          <a:solidFill>
                            <a:srgbClr val="262626"/>
                          </a:solidFill>
                          <a:latin typeface="Calibri"/>
                          <a:cs typeface="Calibri"/>
                        </a:rPr>
                        <a:t>Storage</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algn="l">
                        <a:spcBef>
                          <a:spcPts val="0"/>
                        </a:spcBef>
                        <a:spcAft>
                          <a:spcPts val="0"/>
                        </a:spcAft>
                        <a:buNone/>
                      </a:pPr>
                      <a:r>
                        <a:rPr lang="en-US" sz="1400" b="0" i="0" dirty="0">
                          <a:solidFill>
                            <a:srgbClr val="262626"/>
                          </a:solidFill>
                          <a:latin typeface="Calibri"/>
                          <a:cs typeface="Calibri"/>
                        </a:rPr>
                        <a:t>Minimum 1 GB free disk space</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r>
              <a:tr h="480000">
                <a:tc vMerge="1">
                  <a:txBody>
                    <a:bodyPr/>
                    <a:lstStyle/>
                    <a:p>
                      <a:endParaRPr lang="en-US"/>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BEBEB"/>
                    </a:solidFill>
                  </a:tcPr>
                </a:tc>
                <a:tc>
                  <a:txBody>
                    <a:bodyPr/>
                    <a:lstStyle/>
                    <a:p>
                      <a:pPr algn="l">
                        <a:spcBef>
                          <a:spcPts val="0"/>
                        </a:spcBef>
                        <a:spcAft>
                          <a:spcPts val="0"/>
                        </a:spcAft>
                        <a:buNone/>
                      </a:pPr>
                      <a:r>
                        <a:rPr lang="en-US" sz="1400" b="1" i="0" dirty="0">
                          <a:solidFill>
                            <a:srgbClr val="262626"/>
                          </a:solidFill>
                          <a:latin typeface="Calibri"/>
                          <a:cs typeface="Calibri"/>
                        </a:rPr>
                        <a:t>Backup Location</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algn="l">
                        <a:spcBef>
                          <a:spcPts val="0"/>
                        </a:spcBef>
                        <a:spcAft>
                          <a:spcPts val="0"/>
                        </a:spcAft>
                        <a:buNone/>
                      </a:pPr>
                      <a:r>
                        <a:rPr lang="en-US" sz="1400" b="0" i="0" dirty="0">
                          <a:solidFill>
                            <a:srgbClr val="262626"/>
                          </a:solidFill>
                          <a:latin typeface="Calibri"/>
                          <a:cs typeface="Calibri"/>
                        </a:rPr>
                        <a:t>Local disk or mounted drive (source and backup)</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r>
              <a:tr h="480000">
                <a:tc rowSpan="5">
                  <a:txBody>
                    <a:bodyPr/>
                    <a:lstStyle/>
                    <a:p>
                      <a:pPr algn="ctr">
                        <a:spcBef>
                          <a:spcPts val="0"/>
                        </a:spcBef>
                        <a:spcAft>
                          <a:spcPts val="0"/>
                        </a:spcAft>
                        <a:buNone/>
                      </a:pPr>
                      <a:r>
                        <a:rPr lang="en-US" sz="1600" b="1" i="0" dirty="0">
                          <a:solidFill>
                            <a:srgbClr val="002060"/>
                          </a:solidFill>
                          <a:latin typeface="Calibri"/>
                          <a:cs typeface="Calibri"/>
                        </a:rPr>
                        <a:t>Software</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E9EEF7"/>
                    </a:solidFill>
                  </a:tcPr>
                </a:tc>
                <a:tc>
                  <a:txBody>
                    <a:bodyPr/>
                    <a:lstStyle/>
                    <a:p>
                      <a:pPr algn="l">
                        <a:spcBef>
                          <a:spcPts val="0"/>
                        </a:spcBef>
                        <a:spcAft>
                          <a:spcPts val="0"/>
                        </a:spcAft>
                        <a:buNone/>
                      </a:pPr>
                      <a:r>
                        <a:rPr lang="en-US" sz="1400" b="1" i="0" dirty="0">
                          <a:solidFill>
                            <a:srgbClr val="262626"/>
                          </a:solidFill>
                          <a:latin typeface="Calibri"/>
                          <a:cs typeface="Calibri"/>
                        </a:rPr>
                        <a:t>Operating System</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algn="l">
                        <a:spcBef>
                          <a:spcPts val="0"/>
                        </a:spcBef>
                        <a:spcAft>
                          <a:spcPts val="0"/>
                        </a:spcAft>
                        <a:buNone/>
                      </a:pPr>
                      <a:r>
                        <a:rPr lang="en-US" sz="1400" b="0" i="0" dirty="0">
                          <a:solidFill>
                            <a:srgbClr val="262626"/>
                          </a:solidFill>
                          <a:latin typeface="Calibri"/>
                          <a:cs typeface="Calibri"/>
                        </a:rPr>
                        <a:t>Ubuntu / any Linux distribution (kernel 5.x+)</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r>
              <a:tr h="480000">
                <a:tc vMerge="1">
                  <a:txBody>
                    <a:bodyPr/>
                    <a:lstStyle/>
                    <a:p>
                      <a:endParaRPr lang="en-US"/>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E9EEF7"/>
                    </a:solidFill>
                  </a:tcPr>
                </a:tc>
                <a:tc>
                  <a:txBody>
                    <a:bodyPr/>
                    <a:lstStyle/>
                    <a:p>
                      <a:pPr algn="l">
                        <a:spcBef>
                          <a:spcPts val="0"/>
                        </a:spcBef>
                        <a:spcAft>
                          <a:spcPts val="0"/>
                        </a:spcAft>
                        <a:buNone/>
                      </a:pPr>
                      <a:r>
                        <a:rPr lang="en-US" sz="1400" b="1" i="0" dirty="0">
                          <a:solidFill>
                            <a:srgbClr val="262626"/>
                          </a:solidFill>
                          <a:latin typeface="Calibri"/>
                          <a:cs typeface="Calibri"/>
                        </a:rPr>
                        <a:t>Compiler</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algn="l">
                        <a:spcBef>
                          <a:spcPts val="0"/>
                        </a:spcBef>
                        <a:spcAft>
                          <a:spcPts val="0"/>
                        </a:spcAft>
                        <a:buNone/>
                      </a:pPr>
                      <a:r>
                        <a:rPr lang="en-US" sz="1400" b="0" i="0" dirty="0">
                          <a:solidFill>
                            <a:srgbClr val="262626"/>
                          </a:solidFill>
                          <a:latin typeface="Calibri"/>
                          <a:cs typeface="Calibri"/>
                        </a:rPr>
                        <a:t>GCC (C99 or later)</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r>
              <a:tr h="480000">
                <a:tc vMerge="1">
                  <a:txBody>
                    <a:bodyPr/>
                    <a:lstStyle/>
                    <a:p>
                      <a:endParaRPr lang="en-US"/>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E9EEF7"/>
                    </a:solidFill>
                  </a:tcPr>
                </a:tc>
                <a:tc>
                  <a:txBody>
                    <a:bodyPr/>
                    <a:lstStyle/>
                    <a:p>
                      <a:pPr algn="l">
                        <a:spcBef>
                          <a:spcPts val="0"/>
                        </a:spcBef>
                        <a:spcAft>
                          <a:spcPts val="0"/>
                        </a:spcAft>
                        <a:buNone/>
                      </a:pPr>
                      <a:r>
                        <a:rPr lang="en-US" sz="1400" b="1" i="0" dirty="0">
                          <a:solidFill>
                            <a:srgbClr val="262626"/>
                          </a:solidFill>
                          <a:latin typeface="Calibri"/>
                          <a:cs typeface="Calibri"/>
                        </a:rPr>
                        <a:t>Code Editor</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algn="l">
                        <a:spcBef>
                          <a:spcPts val="0"/>
                        </a:spcBef>
                        <a:spcAft>
                          <a:spcPts val="0"/>
                        </a:spcAft>
                        <a:buNone/>
                      </a:pPr>
                      <a:r>
                        <a:rPr lang="en-US" sz="1400" b="0" i="0" dirty="0">
                          <a:solidFill>
                            <a:srgbClr val="262626"/>
                          </a:solidFill>
                          <a:latin typeface="Calibri"/>
                          <a:cs typeface="Calibri"/>
                        </a:rPr>
                        <a:t>VS Code / Vim</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r>
              <a:tr h="480000">
                <a:tc vMerge="1">
                  <a:txBody>
                    <a:bodyPr/>
                    <a:lstStyle/>
                    <a:p>
                      <a:endParaRPr lang="en-US"/>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E9EEF7"/>
                    </a:solidFill>
                  </a:tcPr>
                </a:tc>
                <a:tc>
                  <a:txBody>
                    <a:bodyPr/>
                    <a:lstStyle/>
                    <a:p>
                      <a:pPr algn="l">
                        <a:spcBef>
                          <a:spcPts val="0"/>
                        </a:spcBef>
                        <a:spcAft>
                          <a:spcPts val="0"/>
                        </a:spcAft>
                        <a:buNone/>
                      </a:pPr>
                      <a:r>
                        <a:rPr lang="en-US" sz="1400" b="1" i="0" dirty="0">
                          <a:solidFill>
                            <a:srgbClr val="262626"/>
                          </a:solidFill>
                          <a:latin typeface="Calibri"/>
                          <a:cs typeface="Calibri"/>
                        </a:rPr>
                        <a:t>Version Control</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algn="l">
                        <a:spcBef>
                          <a:spcPts val="0"/>
                        </a:spcBef>
                        <a:spcAft>
                          <a:spcPts val="0"/>
                        </a:spcAft>
                        <a:buNone/>
                      </a:pPr>
                      <a:r>
                        <a:rPr lang="en-US" sz="1400" b="0" i="0" dirty="0">
                          <a:solidFill>
                            <a:srgbClr val="262626"/>
                          </a:solidFill>
                          <a:latin typeface="Calibri"/>
                          <a:cs typeface="Calibri"/>
                        </a:rPr>
                        <a:t>Git and GitHub</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r>
              <a:tr h="480000">
                <a:tc vMerge="1">
                  <a:txBody>
                    <a:bodyPr/>
                    <a:lstStyle/>
                    <a:p>
                      <a:endParaRPr lang="en-US"/>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E9EEF7"/>
                    </a:solidFill>
                  </a:tcPr>
                </a:tc>
                <a:tc>
                  <a:txBody>
                    <a:bodyPr/>
                    <a:lstStyle/>
                    <a:p>
                      <a:pPr algn="l">
                        <a:spcBef>
                          <a:spcPts val="0"/>
                        </a:spcBef>
                        <a:spcAft>
                          <a:spcPts val="0"/>
                        </a:spcAft>
                        <a:buNone/>
                      </a:pPr>
                      <a:r>
                        <a:rPr lang="en-US" sz="1400" b="1" i="0" dirty="0">
                          <a:solidFill>
                            <a:srgbClr val="262626"/>
                          </a:solidFill>
                          <a:latin typeface="Calibri"/>
                          <a:cs typeface="Calibri"/>
                        </a:rPr>
                        <a:t>Build Tool</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algn="l">
                        <a:spcBef>
                          <a:spcPts val="0"/>
                        </a:spcBef>
                        <a:spcAft>
                          <a:spcPts val="0"/>
                        </a:spcAft>
                        <a:buNone/>
                      </a:pPr>
                      <a:r>
                        <a:rPr lang="en-US" sz="1400" b="0" i="0" dirty="0">
                          <a:solidFill>
                            <a:srgbClr val="262626"/>
                          </a:solidFill>
                          <a:latin typeface="Calibri"/>
                          <a:cs typeface="Calibri"/>
                        </a:rPr>
                        <a:t>Make (optional, for build automation)</a:t>
                      </a:r>
                    </a:p>
                  </a:txBody>
                  <a:tcPr marL="91440" marR="91440" marT="45720" marB="45720"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r>
            </a:tbl>
          </a:graphicData>
        </a:graphic>
      </p:graphicFrame>
      <p:sp>
        <p:nvSpPr>
          <p:cNvPr id="4" name="Date Placeholder"/>
          <p:cNvSpPr>
            <a:spLocks noGrp="1"/>
          </p:cNvSpPr>
          <p:nvPr>
            <p:ph type="dt" sz="half" idx="10"/>
          </p:nvPr>
        </p:nvSpPr>
        <p:spPr/>
        <p:txBody>
          <a:bodyPr/>
          <a:lstStyle/>
          <a:p>
            <a:fld id="{32179801-AD4A-4368-9C25-F8FFDCCA9D13}" type="datetime1">
              <a:rPr lang="en-US"/>
              <a:t>9/19/2026</a:t>
            </a:fld>
            <a:endParaRPr lang="en-US"/>
          </a:p>
        </p:txBody>
      </p:sp>
      <p:sp>
        <p:nvSpPr>
          <p:cNvPr id="5" name="Slide Number Placeholder"/>
          <p:cNvSpPr>
            <a:spLocks noGrp="1"/>
          </p:cNvSpPr>
          <p:nvPr>
            <p:ph type="sldNum" sz="quarter" idx="12"/>
          </p:nvPr>
        </p:nvSpPr>
        <p:spPr/>
        <p:txBody>
          <a:bodyPr/>
          <a:lstStyle/>
          <a:p>
            <a:fld id="{7EED5C5B-9EF4-44F9-8A5E-F9CA765F3D63}" type="slidenum">
              <a:rPr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Bar"/>
          <p:cNvSpPr/>
          <p:nvPr/>
        </p:nvSpPr>
        <p:spPr>
          <a:xfrm>
            <a:off x="3200000" y="230000"/>
            <a:ext cx="8150000" cy="560000"/>
          </a:xfrm>
          <a:prstGeom prst="roundRect">
            <a:avLst>
              <a:gd name="adj" fmla="val 16667"/>
            </a:avLst>
          </a:prstGeom>
          <a:solidFill>
            <a:srgbClr val="C00000"/>
          </a:solidFill>
          <a:ln>
            <a:noFill/>
          </a:ln>
        </p:spPr>
        <p:txBody>
          <a:bodyPr wrap="square" lIns="0" tIns="0" rIns="0" bIns="0" rtlCol="0" anchor="ctr">
            <a:noAutofit/>
          </a:bodyPr>
          <a:lstStyle/>
          <a:p>
            <a:pPr algn="ctr">
              <a:spcBef>
                <a:spcPts val="0"/>
              </a:spcBef>
              <a:spcAft>
                <a:spcPts val="0"/>
              </a:spcAft>
              <a:buNone/>
            </a:pPr>
            <a:r>
              <a:rPr lang="en-US" sz="2800" b="1" i="0" dirty="0">
                <a:solidFill>
                  <a:srgbClr val="FFFFFF"/>
                </a:solidFill>
                <a:latin typeface="Calibri"/>
                <a:cs typeface="Calibri"/>
              </a:rPr>
              <a:t>System Architecture</a:t>
            </a:r>
          </a:p>
        </p:txBody>
      </p:sp>
      <p:sp>
        <p:nvSpPr>
          <p:cNvPr id="3" name="Layer 1"/>
          <p:cNvSpPr/>
          <p:nvPr/>
        </p:nvSpPr>
        <p:spPr>
          <a:xfrm>
            <a:off x="3200000" y="1100000"/>
            <a:ext cx="7550000" cy="800000"/>
          </a:xfrm>
          <a:prstGeom prst="roundRect">
            <a:avLst>
              <a:gd name="adj" fmla="val 10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4" name="Icon circle"/>
          <p:cNvSpPr/>
          <p:nvPr/>
        </p:nvSpPr>
        <p:spPr>
          <a:xfrm>
            <a:off x="3400000" y="1240000"/>
            <a:ext cx="520000" cy="520000"/>
          </a:xfrm>
          <a:prstGeom prst="ellipse">
            <a:avLst/>
          </a:prstGeom>
          <a:solidFill>
            <a:srgbClr val="C00000"/>
          </a:solidFill>
          <a:ln>
            <a:noFill/>
          </a:ln>
        </p:spPr>
        <p:txBody>
          <a:bodyPr wrap="square" lIns="0" tIns="0" rIns="0" bIns="0" rtlCol="0" anchor="t">
            <a:noAutofit/>
          </a:bodyPr>
          <a:lstStyle/>
          <a:p>
            <a:endParaRPr lang="en-US"/>
          </a:p>
        </p:txBody>
      </p:sp>
      <p:pic>
        <p:nvPicPr>
          <p:cNvPr id="5" name="Icon FiMonitor" descr="CLI Application"/>
          <p:cNvPicPr>
            <a:picLocks noChangeAspect="1"/>
          </p:cNvPicPr>
          <p:nvPr/>
        </p:nvPicPr>
        <p:blipFill>
          <a:blip r:embed="rId2"/>
          <a:stretch>
            <a:fillRect/>
          </a:stretch>
        </p:blipFill>
        <p:spPr>
          <a:xfrm>
            <a:off x="3524800" y="1364800"/>
            <a:ext cx="270400" cy="270400"/>
          </a:xfrm>
          <a:prstGeom prst="rect">
            <a:avLst/>
          </a:prstGeom>
        </p:spPr>
      </p:pic>
      <p:sp>
        <p:nvSpPr>
          <p:cNvPr id="6" name="Layer Text 1"/>
          <p:cNvSpPr txBox="1"/>
          <p:nvPr/>
        </p:nvSpPr>
        <p:spPr>
          <a:xfrm>
            <a:off x="4100000" y="1100000"/>
            <a:ext cx="6550000" cy="800000"/>
          </a:xfrm>
          <a:prstGeom prst="rect">
            <a:avLst/>
          </a:prstGeom>
          <a:noFill/>
          <a:ln>
            <a:noFill/>
          </a:ln>
        </p:spPr>
        <p:txBody>
          <a:bodyPr wrap="square" lIns="0" tIns="0" rIns="0" bIns="0" rtlCol="0" anchor="ctr">
            <a:noAutofit/>
          </a:bodyPr>
          <a:lstStyle/>
          <a:p>
            <a:pPr algn="l">
              <a:spcBef>
                <a:spcPts val="0"/>
              </a:spcBef>
              <a:spcAft>
                <a:spcPts val="200"/>
              </a:spcAft>
              <a:buNone/>
            </a:pPr>
            <a:r>
              <a:rPr lang="en-US" sz="1700" b="1" i="0" dirty="0">
                <a:solidFill>
                  <a:srgbClr val="262626"/>
                </a:solidFill>
                <a:latin typeface="Calibri"/>
                <a:cs typeface="Calibri"/>
              </a:rPr>
              <a:t>CLI Application</a:t>
            </a:r>
          </a:p>
          <a:p>
            <a:pPr algn="l">
              <a:spcBef>
                <a:spcPts val="0"/>
              </a:spcBef>
              <a:spcAft>
                <a:spcPts val="0"/>
              </a:spcAft>
              <a:buNone/>
            </a:pPr>
            <a:r>
              <a:rPr lang="en-US" sz="1400" b="0" i="0" dirty="0">
                <a:solidFill>
                  <a:srgbClr val="595959"/>
                </a:solidFill>
                <a:latin typeface="Calibri"/>
                <a:cs typeface="Calibri"/>
              </a:rPr>
              <a:t>Argument parsing, orchestration, status and error reporting</a:t>
            </a:r>
          </a:p>
        </p:txBody>
      </p:sp>
      <p:sp>
        <p:nvSpPr>
          <p:cNvPr id="7" name="Flow Arrow"/>
          <p:cNvSpPr/>
          <p:nvPr/>
        </p:nvSpPr>
        <p:spPr>
          <a:xfrm>
            <a:off x="6835000" y="1930000"/>
            <a:ext cx="280000" cy="200000"/>
          </a:xfrm>
          <a:prstGeom prst="downArrow">
            <a:avLst/>
          </a:prstGeom>
          <a:solidFill>
            <a:srgbClr val="A6A6A6"/>
          </a:solidFill>
          <a:ln>
            <a:noFill/>
          </a:ln>
        </p:spPr>
        <p:txBody>
          <a:bodyPr wrap="square" lIns="0" tIns="0" rIns="0" bIns="0" rtlCol="0" anchor="t">
            <a:noAutofit/>
          </a:bodyPr>
          <a:lstStyle/>
          <a:p>
            <a:endParaRPr lang="en-US"/>
          </a:p>
        </p:txBody>
      </p:sp>
      <p:sp>
        <p:nvSpPr>
          <p:cNvPr id="8" name="Layer 2"/>
          <p:cNvSpPr/>
          <p:nvPr/>
        </p:nvSpPr>
        <p:spPr>
          <a:xfrm>
            <a:off x="3200000" y="2160000"/>
            <a:ext cx="7550000" cy="800000"/>
          </a:xfrm>
          <a:prstGeom prst="roundRect">
            <a:avLst>
              <a:gd name="adj" fmla="val 10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9" name="Icon circle"/>
          <p:cNvSpPr/>
          <p:nvPr/>
        </p:nvSpPr>
        <p:spPr>
          <a:xfrm>
            <a:off x="3400000" y="2300000"/>
            <a:ext cx="520000" cy="520000"/>
          </a:xfrm>
          <a:prstGeom prst="ellipse">
            <a:avLst/>
          </a:prstGeom>
          <a:solidFill>
            <a:srgbClr val="C00000"/>
          </a:solidFill>
          <a:ln>
            <a:noFill/>
          </a:ln>
        </p:spPr>
        <p:txBody>
          <a:bodyPr wrap="square" lIns="0" tIns="0" rIns="0" bIns="0" rtlCol="0" anchor="t">
            <a:noAutofit/>
          </a:bodyPr>
          <a:lstStyle/>
          <a:p>
            <a:endParaRPr lang="en-US"/>
          </a:p>
        </p:txBody>
      </p:sp>
      <p:pic>
        <p:nvPicPr>
          <p:cNvPr id="10" name="Icon FiSettings" descr="Core Logic Layer"/>
          <p:cNvPicPr>
            <a:picLocks noChangeAspect="1"/>
          </p:cNvPicPr>
          <p:nvPr/>
        </p:nvPicPr>
        <p:blipFill>
          <a:blip r:embed="rId3"/>
          <a:stretch>
            <a:fillRect/>
          </a:stretch>
        </p:blipFill>
        <p:spPr>
          <a:xfrm>
            <a:off x="3524800" y="2424800"/>
            <a:ext cx="270400" cy="270400"/>
          </a:xfrm>
          <a:prstGeom prst="rect">
            <a:avLst/>
          </a:prstGeom>
        </p:spPr>
      </p:pic>
      <p:sp>
        <p:nvSpPr>
          <p:cNvPr id="11" name="Layer Text 2"/>
          <p:cNvSpPr txBox="1"/>
          <p:nvPr/>
        </p:nvSpPr>
        <p:spPr>
          <a:xfrm>
            <a:off x="4100000" y="2160000"/>
            <a:ext cx="6550000" cy="800000"/>
          </a:xfrm>
          <a:prstGeom prst="rect">
            <a:avLst/>
          </a:prstGeom>
          <a:noFill/>
          <a:ln>
            <a:noFill/>
          </a:ln>
        </p:spPr>
        <p:txBody>
          <a:bodyPr wrap="square" lIns="0" tIns="0" rIns="0" bIns="0" rtlCol="0" anchor="ctr">
            <a:noAutofit/>
          </a:bodyPr>
          <a:lstStyle/>
          <a:p>
            <a:pPr algn="l">
              <a:spcBef>
                <a:spcPts val="0"/>
              </a:spcBef>
              <a:spcAft>
                <a:spcPts val="200"/>
              </a:spcAft>
              <a:buNone/>
            </a:pPr>
            <a:r>
              <a:rPr lang="en-US" sz="1700" b="1" i="0" dirty="0">
                <a:solidFill>
                  <a:srgbClr val="262626"/>
                </a:solidFill>
                <a:latin typeface="Calibri"/>
                <a:cs typeface="Calibri"/>
              </a:rPr>
              <a:t>Core Logic Layer</a:t>
            </a:r>
          </a:p>
          <a:p>
            <a:pPr algn="l">
              <a:spcBef>
                <a:spcPts val="0"/>
              </a:spcBef>
              <a:spcAft>
                <a:spcPts val="0"/>
              </a:spcAft>
              <a:buNone/>
            </a:pPr>
            <a:r>
              <a:rPr lang="en-US" sz="1400" b="0" i="0" dirty="0">
                <a:solidFill>
                  <a:srgbClr val="595959"/>
                </a:solidFill>
                <a:latin typeface="Calibri"/>
                <a:cs typeface="Calibri"/>
              </a:rPr>
              <a:t>Directory scan · metadata comparison · copy decision</a:t>
            </a:r>
          </a:p>
        </p:txBody>
      </p:sp>
      <p:sp>
        <p:nvSpPr>
          <p:cNvPr id="12" name="Flow Arrow"/>
          <p:cNvSpPr/>
          <p:nvPr/>
        </p:nvSpPr>
        <p:spPr>
          <a:xfrm>
            <a:off x="6835000" y="2990000"/>
            <a:ext cx="280000" cy="200000"/>
          </a:xfrm>
          <a:prstGeom prst="downArrow">
            <a:avLst/>
          </a:prstGeom>
          <a:solidFill>
            <a:srgbClr val="A6A6A6"/>
          </a:solidFill>
          <a:ln>
            <a:noFill/>
          </a:ln>
        </p:spPr>
        <p:txBody>
          <a:bodyPr wrap="square" lIns="0" tIns="0" rIns="0" bIns="0" rtlCol="0" anchor="t">
            <a:noAutofit/>
          </a:bodyPr>
          <a:lstStyle/>
          <a:p>
            <a:endParaRPr lang="en-US"/>
          </a:p>
        </p:txBody>
      </p:sp>
      <p:sp>
        <p:nvSpPr>
          <p:cNvPr id="13" name="Layer 3"/>
          <p:cNvSpPr/>
          <p:nvPr/>
        </p:nvSpPr>
        <p:spPr>
          <a:xfrm>
            <a:off x="3200000" y="3220000"/>
            <a:ext cx="7550000" cy="800000"/>
          </a:xfrm>
          <a:prstGeom prst="roundRect">
            <a:avLst>
              <a:gd name="adj" fmla="val 10000"/>
            </a:avLst>
          </a:prstGeom>
          <a:solidFill>
            <a:srgbClr val="C00000"/>
          </a:solidFill>
          <a:ln>
            <a:no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14" name="Icon circle"/>
          <p:cNvSpPr/>
          <p:nvPr/>
        </p:nvSpPr>
        <p:spPr>
          <a:xfrm>
            <a:off x="3400000" y="3360000"/>
            <a:ext cx="520000" cy="520000"/>
          </a:xfrm>
          <a:prstGeom prst="ellipse">
            <a:avLst/>
          </a:prstGeom>
          <a:solidFill>
            <a:srgbClr val="8F0000"/>
          </a:solidFill>
          <a:ln>
            <a:noFill/>
          </a:ln>
        </p:spPr>
        <p:txBody>
          <a:bodyPr wrap="square" lIns="0" tIns="0" rIns="0" bIns="0" rtlCol="0" anchor="t">
            <a:noAutofit/>
          </a:bodyPr>
          <a:lstStyle/>
          <a:p>
            <a:endParaRPr lang="en-US"/>
          </a:p>
        </p:txBody>
      </p:sp>
      <p:pic>
        <p:nvPicPr>
          <p:cNvPr id="15" name="Icon FiTerminal" descr="System Call Layer"/>
          <p:cNvPicPr>
            <a:picLocks noChangeAspect="1"/>
          </p:cNvPicPr>
          <p:nvPr/>
        </p:nvPicPr>
        <p:blipFill>
          <a:blip r:embed="rId4"/>
          <a:stretch>
            <a:fillRect/>
          </a:stretch>
        </p:blipFill>
        <p:spPr>
          <a:xfrm>
            <a:off x="3524800" y="3484800"/>
            <a:ext cx="270400" cy="270400"/>
          </a:xfrm>
          <a:prstGeom prst="rect">
            <a:avLst/>
          </a:prstGeom>
        </p:spPr>
      </p:pic>
      <p:sp>
        <p:nvSpPr>
          <p:cNvPr id="16" name="Layer Text 3"/>
          <p:cNvSpPr txBox="1"/>
          <p:nvPr/>
        </p:nvSpPr>
        <p:spPr>
          <a:xfrm>
            <a:off x="4100000" y="3220000"/>
            <a:ext cx="6550000" cy="800000"/>
          </a:xfrm>
          <a:prstGeom prst="rect">
            <a:avLst/>
          </a:prstGeom>
          <a:noFill/>
          <a:ln>
            <a:noFill/>
          </a:ln>
        </p:spPr>
        <p:txBody>
          <a:bodyPr wrap="square" lIns="0" tIns="0" rIns="0" bIns="0" rtlCol="0" anchor="ctr">
            <a:noAutofit/>
          </a:bodyPr>
          <a:lstStyle/>
          <a:p>
            <a:pPr algn="l">
              <a:spcBef>
                <a:spcPts val="0"/>
              </a:spcBef>
              <a:spcAft>
                <a:spcPts val="200"/>
              </a:spcAft>
              <a:buNone/>
            </a:pPr>
            <a:r>
              <a:rPr lang="en-US" sz="1700" b="1" i="0" dirty="0">
                <a:solidFill>
                  <a:srgbClr val="FFFFFF"/>
                </a:solidFill>
                <a:latin typeface="Calibri"/>
                <a:cs typeface="Calibri"/>
              </a:rPr>
              <a:t>System Call Layer</a:t>
            </a:r>
          </a:p>
          <a:p>
            <a:pPr algn="l">
              <a:spcBef>
                <a:spcPts val="0"/>
              </a:spcBef>
              <a:spcAft>
                <a:spcPts val="0"/>
              </a:spcAft>
              <a:buNone/>
            </a:pPr>
            <a:r>
              <a:rPr lang="en-US" sz="1400" b="0" i="0" dirty="0">
                <a:solidFill>
                  <a:srgbClr val="FFFFFF"/>
                </a:solidFill>
                <a:latin typeface="Calibri"/>
                <a:cs typeface="Calibri"/>
              </a:rPr>
              <a:t>open() · read() · write() · close() · stat() · opendir()/readdir()</a:t>
            </a:r>
          </a:p>
        </p:txBody>
      </p:sp>
      <p:sp>
        <p:nvSpPr>
          <p:cNvPr id="17" name="Flow Arrow"/>
          <p:cNvSpPr/>
          <p:nvPr/>
        </p:nvSpPr>
        <p:spPr>
          <a:xfrm>
            <a:off x="6835000" y="4050000"/>
            <a:ext cx="280000" cy="200000"/>
          </a:xfrm>
          <a:prstGeom prst="downArrow">
            <a:avLst/>
          </a:prstGeom>
          <a:solidFill>
            <a:srgbClr val="C00000"/>
          </a:solidFill>
          <a:ln>
            <a:noFill/>
          </a:ln>
        </p:spPr>
        <p:txBody>
          <a:bodyPr wrap="square" lIns="0" tIns="0" rIns="0" bIns="0" rtlCol="0" anchor="t">
            <a:noAutofit/>
          </a:bodyPr>
          <a:lstStyle/>
          <a:p>
            <a:endParaRPr lang="en-US"/>
          </a:p>
        </p:txBody>
      </p:sp>
      <p:sp>
        <p:nvSpPr>
          <p:cNvPr id="18" name="Layer 4"/>
          <p:cNvSpPr/>
          <p:nvPr/>
        </p:nvSpPr>
        <p:spPr>
          <a:xfrm>
            <a:off x="3200000" y="4280000"/>
            <a:ext cx="7550000" cy="800000"/>
          </a:xfrm>
          <a:prstGeom prst="roundRect">
            <a:avLst>
              <a:gd name="adj" fmla="val 10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19" name="Icon circle"/>
          <p:cNvSpPr/>
          <p:nvPr/>
        </p:nvSpPr>
        <p:spPr>
          <a:xfrm>
            <a:off x="3400000" y="4420000"/>
            <a:ext cx="520000" cy="520000"/>
          </a:xfrm>
          <a:prstGeom prst="ellipse">
            <a:avLst/>
          </a:prstGeom>
          <a:solidFill>
            <a:srgbClr val="002060"/>
          </a:solidFill>
          <a:ln>
            <a:noFill/>
          </a:ln>
        </p:spPr>
        <p:txBody>
          <a:bodyPr wrap="square" lIns="0" tIns="0" rIns="0" bIns="0" rtlCol="0" anchor="t">
            <a:noAutofit/>
          </a:bodyPr>
          <a:lstStyle/>
          <a:p>
            <a:endParaRPr lang="en-US"/>
          </a:p>
        </p:txBody>
      </p:sp>
      <p:pic>
        <p:nvPicPr>
          <p:cNvPr id="20" name="Icon FiCpu" descr="Linux Kernel"/>
          <p:cNvPicPr>
            <a:picLocks noChangeAspect="1"/>
          </p:cNvPicPr>
          <p:nvPr/>
        </p:nvPicPr>
        <p:blipFill>
          <a:blip r:embed="rId5"/>
          <a:stretch>
            <a:fillRect/>
          </a:stretch>
        </p:blipFill>
        <p:spPr>
          <a:xfrm>
            <a:off x="3524800" y="4544800"/>
            <a:ext cx="270400" cy="270400"/>
          </a:xfrm>
          <a:prstGeom prst="rect">
            <a:avLst/>
          </a:prstGeom>
        </p:spPr>
      </p:pic>
      <p:sp>
        <p:nvSpPr>
          <p:cNvPr id="21" name="Layer Text 4"/>
          <p:cNvSpPr txBox="1"/>
          <p:nvPr/>
        </p:nvSpPr>
        <p:spPr>
          <a:xfrm>
            <a:off x="4100000" y="4280000"/>
            <a:ext cx="6550000" cy="800000"/>
          </a:xfrm>
          <a:prstGeom prst="rect">
            <a:avLst/>
          </a:prstGeom>
          <a:noFill/>
          <a:ln>
            <a:noFill/>
          </a:ln>
        </p:spPr>
        <p:txBody>
          <a:bodyPr wrap="square" lIns="0" tIns="0" rIns="0" bIns="0" rtlCol="0" anchor="ctr">
            <a:noAutofit/>
          </a:bodyPr>
          <a:lstStyle/>
          <a:p>
            <a:pPr algn="l">
              <a:spcBef>
                <a:spcPts val="0"/>
              </a:spcBef>
              <a:spcAft>
                <a:spcPts val="200"/>
              </a:spcAft>
              <a:buNone/>
            </a:pPr>
            <a:r>
              <a:rPr lang="en-US" sz="1700" b="1" i="0" dirty="0">
                <a:solidFill>
                  <a:srgbClr val="262626"/>
                </a:solidFill>
                <a:latin typeface="Calibri"/>
                <a:cs typeface="Calibri"/>
              </a:rPr>
              <a:t>Linux Kernel</a:t>
            </a:r>
          </a:p>
          <a:p>
            <a:pPr algn="l">
              <a:spcBef>
                <a:spcPts val="0"/>
              </a:spcBef>
              <a:spcAft>
                <a:spcPts val="0"/>
              </a:spcAft>
              <a:buNone/>
            </a:pPr>
            <a:r>
              <a:rPr lang="en-US" sz="1400" b="0" i="0" dirty="0">
                <a:solidFill>
                  <a:srgbClr val="595959"/>
                </a:solidFill>
                <a:latin typeface="Calibri"/>
                <a:cs typeface="Calibri"/>
              </a:rPr>
              <a:t>Performs the actual file I/O, permission checks and scheduling</a:t>
            </a:r>
          </a:p>
        </p:txBody>
      </p:sp>
      <p:sp>
        <p:nvSpPr>
          <p:cNvPr id="22" name="Flow Arrow"/>
          <p:cNvSpPr/>
          <p:nvPr/>
        </p:nvSpPr>
        <p:spPr>
          <a:xfrm>
            <a:off x="6835000" y="5110000"/>
            <a:ext cx="280000" cy="200000"/>
          </a:xfrm>
          <a:prstGeom prst="downArrow">
            <a:avLst/>
          </a:prstGeom>
          <a:solidFill>
            <a:srgbClr val="A6A6A6"/>
          </a:solidFill>
          <a:ln>
            <a:noFill/>
          </a:ln>
        </p:spPr>
        <p:txBody>
          <a:bodyPr wrap="square" lIns="0" tIns="0" rIns="0" bIns="0" rtlCol="0" anchor="t">
            <a:noAutofit/>
          </a:bodyPr>
          <a:lstStyle/>
          <a:p>
            <a:endParaRPr lang="en-US"/>
          </a:p>
        </p:txBody>
      </p:sp>
      <p:sp>
        <p:nvSpPr>
          <p:cNvPr id="23" name="Layer 5"/>
          <p:cNvSpPr/>
          <p:nvPr/>
        </p:nvSpPr>
        <p:spPr>
          <a:xfrm>
            <a:off x="3200000" y="5340000"/>
            <a:ext cx="7550000" cy="800000"/>
          </a:xfrm>
          <a:prstGeom prst="roundRect">
            <a:avLst>
              <a:gd name="adj" fmla="val 10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24" name="Icon circle"/>
          <p:cNvSpPr/>
          <p:nvPr/>
        </p:nvSpPr>
        <p:spPr>
          <a:xfrm>
            <a:off x="3400000" y="5480000"/>
            <a:ext cx="520000" cy="520000"/>
          </a:xfrm>
          <a:prstGeom prst="ellipse">
            <a:avLst/>
          </a:prstGeom>
          <a:solidFill>
            <a:srgbClr val="002060"/>
          </a:solidFill>
          <a:ln>
            <a:noFill/>
          </a:ln>
        </p:spPr>
        <p:txBody>
          <a:bodyPr wrap="square" lIns="0" tIns="0" rIns="0" bIns="0" rtlCol="0" anchor="t">
            <a:noAutofit/>
          </a:bodyPr>
          <a:lstStyle/>
          <a:p>
            <a:endParaRPr lang="en-US"/>
          </a:p>
        </p:txBody>
      </p:sp>
      <p:pic>
        <p:nvPicPr>
          <p:cNvPr id="25" name="Icon FiDatabase" descr="Filesystem"/>
          <p:cNvPicPr>
            <a:picLocks noChangeAspect="1"/>
          </p:cNvPicPr>
          <p:nvPr/>
        </p:nvPicPr>
        <p:blipFill>
          <a:blip r:embed="rId6"/>
          <a:stretch>
            <a:fillRect/>
          </a:stretch>
        </p:blipFill>
        <p:spPr>
          <a:xfrm>
            <a:off x="3524800" y="5604800"/>
            <a:ext cx="270400" cy="270400"/>
          </a:xfrm>
          <a:prstGeom prst="rect">
            <a:avLst/>
          </a:prstGeom>
        </p:spPr>
      </p:pic>
      <p:sp>
        <p:nvSpPr>
          <p:cNvPr id="26" name="Layer Text 5"/>
          <p:cNvSpPr txBox="1"/>
          <p:nvPr/>
        </p:nvSpPr>
        <p:spPr>
          <a:xfrm>
            <a:off x="4100000" y="5340000"/>
            <a:ext cx="6550000" cy="800000"/>
          </a:xfrm>
          <a:prstGeom prst="rect">
            <a:avLst/>
          </a:prstGeom>
          <a:noFill/>
          <a:ln>
            <a:noFill/>
          </a:ln>
        </p:spPr>
        <p:txBody>
          <a:bodyPr wrap="square" lIns="0" tIns="0" rIns="0" bIns="0" rtlCol="0" anchor="ctr">
            <a:noAutofit/>
          </a:bodyPr>
          <a:lstStyle/>
          <a:p>
            <a:pPr algn="l">
              <a:spcBef>
                <a:spcPts val="0"/>
              </a:spcBef>
              <a:spcAft>
                <a:spcPts val="200"/>
              </a:spcAft>
              <a:buNone/>
            </a:pPr>
            <a:r>
              <a:rPr lang="en-US" sz="1700" b="1" i="0" dirty="0">
                <a:solidFill>
                  <a:srgbClr val="262626"/>
                </a:solidFill>
                <a:latin typeface="Calibri"/>
                <a:cs typeface="Calibri"/>
              </a:rPr>
              <a:t>Filesystem</a:t>
            </a:r>
          </a:p>
          <a:p>
            <a:pPr algn="l">
              <a:spcBef>
                <a:spcPts val="0"/>
              </a:spcBef>
              <a:spcAft>
                <a:spcPts val="0"/>
              </a:spcAft>
              <a:buNone/>
            </a:pPr>
            <a:r>
              <a:rPr lang="en-US" sz="1400" b="0" i="0" dirty="0">
                <a:solidFill>
                  <a:srgbClr val="595959"/>
                </a:solidFill>
                <a:latin typeface="Calibri"/>
                <a:cs typeface="Calibri"/>
              </a:rPr>
              <a:t>Source directory  ↔  Backup directory</a:t>
            </a:r>
          </a:p>
        </p:txBody>
      </p:sp>
      <p:sp>
        <p:nvSpPr>
          <p:cNvPr id="27" name="User Space Bracket"/>
          <p:cNvSpPr/>
          <p:nvPr/>
        </p:nvSpPr>
        <p:spPr>
          <a:xfrm>
            <a:off x="10950000" y="1100000"/>
            <a:ext cx="400000" cy="2920000"/>
          </a:xfrm>
          <a:prstGeom prst="roundRect">
            <a:avLst>
              <a:gd name="adj" fmla="val 20000"/>
            </a:avLst>
          </a:prstGeom>
          <a:solidFill>
            <a:srgbClr val="7F7F7F"/>
          </a:solidFill>
          <a:ln>
            <a:noFill/>
          </a:ln>
        </p:spPr>
        <p:txBody>
          <a:bodyPr wrap="square" lIns="0" tIns="0" rIns="0" bIns="0" rtlCol="0" anchor="ctr" vert="vert270">
            <a:noAutofit/>
          </a:bodyPr>
          <a:lstStyle/>
          <a:p>
            <a:pPr algn="ctr">
              <a:spcBef>
                <a:spcPts val="0"/>
              </a:spcBef>
              <a:spcAft>
                <a:spcPts val="0"/>
              </a:spcAft>
              <a:buNone/>
            </a:pPr>
            <a:r>
              <a:rPr lang="en-US" sz="1200" b="1" i="0" dirty="0">
                <a:solidFill>
                  <a:srgbClr val="FFFFFF"/>
                </a:solidFill>
                <a:latin typeface="Calibri"/>
                <a:cs typeface="Calibri"/>
              </a:rPr>
              <a:t>USER SPACE</a:t>
            </a:r>
          </a:p>
        </p:txBody>
      </p:sp>
      <p:sp>
        <p:nvSpPr>
          <p:cNvPr id="28" name="Kernel Space Bracket"/>
          <p:cNvSpPr/>
          <p:nvPr/>
        </p:nvSpPr>
        <p:spPr>
          <a:xfrm>
            <a:off x="10950000" y="4280000"/>
            <a:ext cx="400000" cy="1860000"/>
          </a:xfrm>
          <a:prstGeom prst="roundRect">
            <a:avLst>
              <a:gd name="adj" fmla="val 20000"/>
            </a:avLst>
          </a:prstGeom>
          <a:solidFill>
            <a:srgbClr val="002060"/>
          </a:solidFill>
          <a:ln>
            <a:noFill/>
          </a:ln>
        </p:spPr>
        <p:txBody>
          <a:bodyPr wrap="square" lIns="0" tIns="0" rIns="0" bIns="0" rtlCol="0" anchor="ctr" vert="vert270">
            <a:noAutofit/>
          </a:bodyPr>
          <a:lstStyle/>
          <a:p>
            <a:pPr algn="ctr">
              <a:spcBef>
                <a:spcPts val="0"/>
              </a:spcBef>
              <a:spcAft>
                <a:spcPts val="0"/>
              </a:spcAft>
              <a:buNone/>
            </a:pPr>
            <a:r>
              <a:rPr lang="en-US" sz="1200" b="1" i="0" dirty="0">
                <a:solidFill>
                  <a:srgbClr val="FFFFFF"/>
                </a:solidFill>
                <a:latin typeface="Calibri"/>
                <a:cs typeface="Calibri"/>
              </a:rPr>
              <a:t>KERNEL SPACE</a:t>
            </a:r>
          </a:p>
        </p:txBody>
      </p:sp>
      <p:sp>
        <p:nvSpPr>
          <p:cNvPr id="29" name="Date Placeholder"/>
          <p:cNvSpPr>
            <a:spLocks noGrp="1"/>
          </p:cNvSpPr>
          <p:nvPr>
            <p:ph type="dt" sz="half" idx="10"/>
          </p:nvPr>
        </p:nvSpPr>
        <p:spPr/>
        <p:txBody>
          <a:bodyPr/>
          <a:lstStyle/>
          <a:p>
            <a:fld id="{32179801-AD4A-4368-9C25-F8FFDCCA9D13}" type="datetime1">
              <a:rPr lang="en-US"/>
              <a:t>9/19/2026</a:t>
            </a:fld>
            <a:endParaRPr lang="en-US"/>
          </a:p>
        </p:txBody>
      </p:sp>
      <p:sp>
        <p:nvSpPr>
          <p:cNvPr id="30" name="Slide Number Placeholder"/>
          <p:cNvSpPr>
            <a:spLocks noGrp="1"/>
          </p:cNvSpPr>
          <p:nvPr>
            <p:ph type="sldNum" sz="quarter" idx="12"/>
          </p:nvPr>
        </p:nvSpPr>
        <p:spPr/>
        <p:txBody>
          <a:bodyPr/>
          <a:lstStyle/>
          <a:p>
            <a:fld id="{7EED5C5B-9EF4-44F9-8A5E-F9CA765F3D63}" type="slidenum">
              <a:rPr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Bar"/>
          <p:cNvSpPr/>
          <p:nvPr/>
        </p:nvSpPr>
        <p:spPr>
          <a:xfrm>
            <a:off x="3200000" y="230000"/>
            <a:ext cx="8150000" cy="560000"/>
          </a:xfrm>
          <a:prstGeom prst="roundRect">
            <a:avLst>
              <a:gd name="adj" fmla="val 16667"/>
            </a:avLst>
          </a:prstGeom>
          <a:solidFill>
            <a:srgbClr val="C00000"/>
          </a:solidFill>
          <a:ln>
            <a:noFill/>
          </a:ln>
        </p:spPr>
        <p:txBody>
          <a:bodyPr wrap="square" lIns="0" tIns="0" rIns="0" bIns="0" rtlCol="0" anchor="ctr">
            <a:noAutofit/>
          </a:bodyPr>
          <a:lstStyle/>
          <a:p>
            <a:pPr algn="ctr">
              <a:spcBef>
                <a:spcPts val="0"/>
              </a:spcBef>
              <a:spcAft>
                <a:spcPts val="0"/>
              </a:spcAft>
              <a:buNone/>
            </a:pPr>
            <a:r>
              <a:rPr lang="en-US" sz="2800" b="1" i="0" dirty="0">
                <a:solidFill>
                  <a:srgbClr val="FFFFFF"/>
                </a:solidFill>
                <a:latin typeface="Calibri"/>
                <a:cs typeface="Calibri"/>
              </a:rPr>
              <a:t>Conclusion</a:t>
            </a:r>
          </a:p>
        </p:txBody>
      </p:sp>
      <p:sp>
        <p:nvSpPr>
          <p:cNvPr id="3" name="Conclusion Card"/>
          <p:cNvSpPr/>
          <p:nvPr/>
        </p:nvSpPr>
        <p:spPr>
          <a:xfrm>
            <a:off x="3200000" y="1100000"/>
            <a:ext cx="8150000" cy="1650000"/>
          </a:xfrm>
          <a:prstGeom prst="roundRect">
            <a:avLst>
              <a:gd name="adj" fmla="val 6000"/>
            </a:avLst>
          </a:prstGeom>
          <a:solidFill>
            <a:srgbClr val="FBEBEB"/>
          </a:solidFill>
          <a:ln>
            <a:noFill/>
          </a:ln>
        </p:spPr>
        <p:txBody>
          <a:bodyPr wrap="square" lIns="0" tIns="0" rIns="0" bIns="0" rtlCol="0" anchor="t">
            <a:noAutofit/>
          </a:bodyPr>
          <a:lstStyle/>
          <a:p>
            <a:endParaRPr lang="en-US"/>
          </a:p>
        </p:txBody>
      </p:sp>
      <p:sp>
        <p:nvSpPr>
          <p:cNvPr id="4" name="Icon circle"/>
          <p:cNvSpPr/>
          <p:nvPr/>
        </p:nvSpPr>
        <p:spPr>
          <a:xfrm>
            <a:off x="3450000" y="1615000"/>
            <a:ext cx="620000" cy="620000"/>
          </a:xfrm>
          <a:prstGeom prst="ellipse">
            <a:avLst/>
          </a:prstGeom>
          <a:solidFill>
            <a:srgbClr val="C00000"/>
          </a:solidFill>
          <a:ln>
            <a:noFill/>
          </a:ln>
        </p:spPr>
        <p:txBody>
          <a:bodyPr wrap="square" lIns="0" tIns="0" rIns="0" bIns="0" rtlCol="0" anchor="t">
            <a:noAutofit/>
          </a:bodyPr>
          <a:lstStyle/>
          <a:p>
            <a:endParaRPr lang="en-US"/>
          </a:p>
        </p:txBody>
      </p:sp>
      <p:pic>
        <p:nvPicPr>
          <p:cNvPr id="5" name="Icon FiFlag" descr="Conclusion"/>
          <p:cNvPicPr>
            <a:picLocks noChangeAspect="1"/>
          </p:cNvPicPr>
          <p:nvPr/>
        </p:nvPicPr>
        <p:blipFill>
          <a:blip r:embed="rId2"/>
          <a:stretch>
            <a:fillRect/>
          </a:stretch>
        </p:blipFill>
        <p:spPr>
          <a:xfrm>
            <a:off x="3598800" y="1763800"/>
            <a:ext cx="322400" cy="322400"/>
          </a:xfrm>
          <a:prstGeom prst="rect">
            <a:avLst/>
          </a:prstGeom>
        </p:spPr>
      </p:pic>
      <p:sp>
        <p:nvSpPr>
          <p:cNvPr id="6" name="Conclusion Text"/>
          <p:cNvSpPr txBox="1"/>
          <p:nvPr/>
        </p:nvSpPr>
        <p:spPr>
          <a:xfrm>
            <a:off x="4300000" y="1100000"/>
            <a:ext cx="6800000" cy="1650000"/>
          </a:xfrm>
          <a:prstGeom prst="rect">
            <a:avLst/>
          </a:prstGeom>
          <a:noFill/>
          <a:ln>
            <a:noFill/>
          </a:ln>
        </p:spPr>
        <p:txBody>
          <a:bodyPr wrap="square" lIns="0" tIns="0" rIns="0" bIns="0" rtlCol="0" anchor="ctr">
            <a:noAutofit/>
          </a:bodyPr>
          <a:lstStyle/>
          <a:p>
            <a:pPr algn="l">
              <a:lnSpc>
                <a:spcPct val="112000"/>
              </a:lnSpc>
              <a:spcBef>
                <a:spcPts val="0"/>
              </a:spcBef>
              <a:spcAft>
                <a:spcPts val="0"/>
              </a:spcAft>
              <a:buNone/>
            </a:pPr>
            <a:r>
              <a:rPr lang="en-US" sz="1700" b="0" i="0" dirty="0">
                <a:solidFill>
                  <a:srgbClr val="262626"/>
                </a:solidFill>
                <a:latin typeface="Calibri"/>
                <a:cs typeface="Calibri"/>
              </a:rPr>
              <a:t>The project successfully implements a working Linux backup and synchronization tool built entirely on POSIX system calls. It correctly detects and copies only changed files while handling errors gracefully, meeting all stated objectives.</a:t>
            </a:r>
          </a:p>
        </p:txBody>
      </p:sp>
      <p:sp>
        <p:nvSpPr>
          <p:cNvPr id="7" name="Future Scope Label"/>
          <p:cNvSpPr txBox="1"/>
          <p:nvPr/>
        </p:nvSpPr>
        <p:spPr>
          <a:xfrm>
            <a:off x="3200000" y="2960000"/>
            <a:ext cx="8150000" cy="380000"/>
          </a:xfrm>
          <a:prstGeom prst="rect">
            <a:avLst/>
          </a:prstGeom>
          <a:noFill/>
          <a:ln>
            <a:noFill/>
          </a:ln>
        </p:spPr>
        <p:txBody>
          <a:bodyPr wrap="square" lIns="0" tIns="0" rIns="0" bIns="0" rtlCol="0" anchor="ctr">
            <a:noAutofit/>
          </a:bodyPr>
          <a:lstStyle/>
          <a:p>
            <a:pPr algn="l">
              <a:spcBef>
                <a:spcPts val="0"/>
              </a:spcBef>
              <a:spcAft>
                <a:spcPts val="0"/>
              </a:spcAft>
              <a:buNone/>
            </a:pPr>
            <a:r>
              <a:rPr lang="en-US" sz="2000" b="1" i="0" dirty="0">
                <a:solidFill>
                  <a:srgbClr val="C00000"/>
                </a:solidFill>
                <a:latin typeface="Calibri"/>
                <a:cs typeface="Calibri"/>
              </a:rPr>
              <a:t>Future Scope</a:t>
            </a:r>
          </a:p>
        </p:txBody>
      </p:sp>
      <p:sp>
        <p:nvSpPr>
          <p:cNvPr id="8" name="Future Card 1"/>
          <p:cNvSpPr/>
          <p:nvPr/>
        </p:nvSpPr>
        <p:spPr>
          <a:xfrm>
            <a:off x="3200000" y="3450000"/>
            <a:ext cx="3975000" cy="1150000"/>
          </a:xfrm>
          <a:prstGeom prst="roundRect">
            <a:avLst>
              <a:gd name="adj" fmla="val 5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9" name="Icon circle"/>
          <p:cNvSpPr/>
          <p:nvPr/>
        </p:nvSpPr>
        <p:spPr>
          <a:xfrm>
            <a:off x="3400000" y="3765000"/>
            <a:ext cx="520000" cy="520000"/>
          </a:xfrm>
          <a:prstGeom prst="ellipse">
            <a:avLst/>
          </a:prstGeom>
          <a:solidFill>
            <a:srgbClr val="002060"/>
          </a:solidFill>
          <a:ln>
            <a:noFill/>
          </a:ln>
        </p:spPr>
        <p:txBody>
          <a:bodyPr wrap="square" lIns="0" tIns="0" rIns="0" bIns="0" rtlCol="0" anchor="t">
            <a:noAutofit/>
          </a:bodyPr>
          <a:lstStyle/>
          <a:p>
            <a:endParaRPr lang="en-US"/>
          </a:p>
        </p:txBody>
      </p:sp>
      <p:pic>
        <p:nvPicPr>
          <p:cNvPr id="10" name="Icon FiGitBranch" descr="Two-way Sync"/>
          <p:cNvPicPr>
            <a:picLocks noChangeAspect="1"/>
          </p:cNvPicPr>
          <p:nvPr/>
        </p:nvPicPr>
        <p:blipFill>
          <a:blip r:embed="rId3"/>
          <a:stretch>
            <a:fillRect/>
          </a:stretch>
        </p:blipFill>
        <p:spPr>
          <a:xfrm>
            <a:off x="3524800" y="3889800"/>
            <a:ext cx="270400" cy="270400"/>
          </a:xfrm>
          <a:prstGeom prst="rect">
            <a:avLst/>
          </a:prstGeom>
        </p:spPr>
      </p:pic>
      <p:sp>
        <p:nvSpPr>
          <p:cNvPr id="11" name="Future Text 1"/>
          <p:cNvSpPr txBox="1"/>
          <p:nvPr/>
        </p:nvSpPr>
        <p:spPr>
          <a:xfrm>
            <a:off x="4100000" y="3450000"/>
            <a:ext cx="2975000" cy="1150000"/>
          </a:xfrm>
          <a:prstGeom prst="rect">
            <a:avLst/>
          </a:prstGeom>
          <a:noFill/>
          <a:ln>
            <a:noFill/>
          </a:ln>
        </p:spPr>
        <p:txBody>
          <a:bodyPr wrap="square" lIns="0" tIns="0" rIns="0" bIns="0" rtlCol="0" anchor="ctr">
            <a:noAutofit/>
          </a:bodyPr>
          <a:lstStyle/>
          <a:p>
            <a:pPr algn="l">
              <a:spcBef>
                <a:spcPts val="0"/>
              </a:spcBef>
              <a:spcAft>
                <a:spcPts val="300"/>
              </a:spcAft>
              <a:buNone/>
            </a:pPr>
            <a:r>
              <a:rPr lang="en-US" sz="1600" b="1" i="0" dirty="0">
                <a:solidFill>
                  <a:srgbClr val="262626"/>
                </a:solidFill>
                <a:latin typeface="Calibri"/>
                <a:cs typeface="Calibri"/>
              </a:rPr>
              <a:t>Two-way Sync</a:t>
            </a:r>
          </a:p>
          <a:p>
            <a:pPr algn="l">
              <a:lnSpc>
                <a:spcPct val="100000"/>
              </a:lnSpc>
              <a:spcBef>
                <a:spcPts val="0"/>
              </a:spcBef>
              <a:spcAft>
                <a:spcPts val="0"/>
              </a:spcAft>
              <a:buNone/>
            </a:pPr>
            <a:r>
              <a:rPr lang="en-US" sz="1400" b="0" i="0" dirty="0">
                <a:solidFill>
                  <a:srgbClr val="595959"/>
                </a:solidFill>
                <a:latin typeface="Calibri"/>
                <a:cs typeface="Calibri"/>
              </a:rPr>
              <a:t>Detect and handle deletions in both directions</a:t>
            </a:r>
          </a:p>
        </p:txBody>
      </p:sp>
      <p:sp>
        <p:nvSpPr>
          <p:cNvPr id="12" name="Future Card 2"/>
          <p:cNvSpPr/>
          <p:nvPr/>
        </p:nvSpPr>
        <p:spPr>
          <a:xfrm>
            <a:off x="7375000" y="3450000"/>
            <a:ext cx="3975000" cy="1150000"/>
          </a:xfrm>
          <a:prstGeom prst="roundRect">
            <a:avLst>
              <a:gd name="adj" fmla="val 5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13" name="Icon circle"/>
          <p:cNvSpPr/>
          <p:nvPr/>
        </p:nvSpPr>
        <p:spPr>
          <a:xfrm>
            <a:off x="7575000" y="3765000"/>
            <a:ext cx="520000" cy="520000"/>
          </a:xfrm>
          <a:prstGeom prst="ellipse">
            <a:avLst/>
          </a:prstGeom>
          <a:solidFill>
            <a:srgbClr val="002060"/>
          </a:solidFill>
          <a:ln>
            <a:noFill/>
          </a:ln>
        </p:spPr>
        <p:txBody>
          <a:bodyPr wrap="square" lIns="0" tIns="0" rIns="0" bIns="0" rtlCol="0" anchor="t">
            <a:noAutofit/>
          </a:bodyPr>
          <a:lstStyle/>
          <a:p>
            <a:endParaRPr lang="en-US"/>
          </a:p>
        </p:txBody>
      </p:sp>
      <p:pic>
        <p:nvPicPr>
          <p:cNvPr id="14" name="Icon FiCpu" descr="Multi-threading"/>
          <p:cNvPicPr>
            <a:picLocks noChangeAspect="1"/>
          </p:cNvPicPr>
          <p:nvPr/>
        </p:nvPicPr>
        <p:blipFill>
          <a:blip r:embed="rId4"/>
          <a:stretch>
            <a:fillRect/>
          </a:stretch>
        </p:blipFill>
        <p:spPr>
          <a:xfrm>
            <a:off x="7699800" y="3889800"/>
            <a:ext cx="270400" cy="270400"/>
          </a:xfrm>
          <a:prstGeom prst="rect">
            <a:avLst/>
          </a:prstGeom>
        </p:spPr>
      </p:pic>
      <p:sp>
        <p:nvSpPr>
          <p:cNvPr id="15" name="Future Text 2"/>
          <p:cNvSpPr txBox="1"/>
          <p:nvPr/>
        </p:nvSpPr>
        <p:spPr>
          <a:xfrm>
            <a:off x="8275000" y="3450000"/>
            <a:ext cx="2975000" cy="1150000"/>
          </a:xfrm>
          <a:prstGeom prst="rect">
            <a:avLst/>
          </a:prstGeom>
          <a:noFill/>
          <a:ln>
            <a:noFill/>
          </a:ln>
        </p:spPr>
        <p:txBody>
          <a:bodyPr wrap="square" lIns="0" tIns="0" rIns="0" bIns="0" rtlCol="0" anchor="ctr">
            <a:noAutofit/>
          </a:bodyPr>
          <a:lstStyle/>
          <a:p>
            <a:pPr algn="l">
              <a:spcBef>
                <a:spcPts val="0"/>
              </a:spcBef>
              <a:spcAft>
                <a:spcPts val="300"/>
              </a:spcAft>
              <a:buNone/>
            </a:pPr>
            <a:r>
              <a:rPr lang="en-US" sz="1600" b="1" i="0" dirty="0">
                <a:solidFill>
                  <a:srgbClr val="262626"/>
                </a:solidFill>
                <a:latin typeface="Calibri"/>
                <a:cs typeface="Calibri"/>
              </a:rPr>
              <a:t>Multi-threading</a:t>
            </a:r>
          </a:p>
          <a:p>
            <a:pPr algn="l">
              <a:lnSpc>
                <a:spcPct val="100000"/>
              </a:lnSpc>
              <a:spcBef>
                <a:spcPts val="0"/>
              </a:spcBef>
              <a:spcAft>
                <a:spcPts val="0"/>
              </a:spcAft>
              <a:buNone/>
            </a:pPr>
            <a:r>
              <a:rPr lang="en-US" sz="1400" b="0" i="0" dirty="0">
                <a:solidFill>
                  <a:srgbClr val="595959"/>
                </a:solidFill>
                <a:latin typeface="Calibri"/>
                <a:cs typeface="Calibri"/>
              </a:rPr>
              <a:t>Parallelize copies across multiple files</a:t>
            </a:r>
          </a:p>
        </p:txBody>
      </p:sp>
      <p:sp>
        <p:nvSpPr>
          <p:cNvPr id="16" name="Future Card 3"/>
          <p:cNvSpPr/>
          <p:nvPr/>
        </p:nvSpPr>
        <p:spPr>
          <a:xfrm>
            <a:off x="3200000" y="4800000"/>
            <a:ext cx="3975000" cy="1150000"/>
          </a:xfrm>
          <a:prstGeom prst="roundRect">
            <a:avLst>
              <a:gd name="adj" fmla="val 5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17" name="Icon circle"/>
          <p:cNvSpPr/>
          <p:nvPr/>
        </p:nvSpPr>
        <p:spPr>
          <a:xfrm>
            <a:off x="3400000" y="5115000"/>
            <a:ext cx="520000" cy="520000"/>
          </a:xfrm>
          <a:prstGeom prst="ellipse">
            <a:avLst/>
          </a:prstGeom>
          <a:solidFill>
            <a:srgbClr val="002060"/>
          </a:solidFill>
          <a:ln>
            <a:noFill/>
          </a:ln>
        </p:spPr>
        <p:txBody>
          <a:bodyPr wrap="square" lIns="0" tIns="0" rIns="0" bIns="0" rtlCol="0" anchor="t">
            <a:noAutofit/>
          </a:bodyPr>
          <a:lstStyle/>
          <a:p>
            <a:endParaRPr lang="en-US"/>
          </a:p>
        </p:txBody>
      </p:sp>
      <p:pic>
        <p:nvPicPr>
          <p:cNvPr id="18" name="Icon FiLock" descr="Compression &amp; Encryption"/>
          <p:cNvPicPr>
            <a:picLocks noChangeAspect="1"/>
          </p:cNvPicPr>
          <p:nvPr/>
        </p:nvPicPr>
        <p:blipFill>
          <a:blip r:embed="rId5"/>
          <a:stretch>
            <a:fillRect/>
          </a:stretch>
        </p:blipFill>
        <p:spPr>
          <a:xfrm>
            <a:off x="3524800" y="5239800"/>
            <a:ext cx="270400" cy="270400"/>
          </a:xfrm>
          <a:prstGeom prst="rect">
            <a:avLst/>
          </a:prstGeom>
        </p:spPr>
      </p:pic>
      <p:sp>
        <p:nvSpPr>
          <p:cNvPr id="19" name="Future Text 3"/>
          <p:cNvSpPr txBox="1"/>
          <p:nvPr/>
        </p:nvSpPr>
        <p:spPr>
          <a:xfrm>
            <a:off x="4100000" y="4800000"/>
            <a:ext cx="2975000" cy="1150000"/>
          </a:xfrm>
          <a:prstGeom prst="rect">
            <a:avLst/>
          </a:prstGeom>
          <a:noFill/>
          <a:ln>
            <a:noFill/>
          </a:ln>
        </p:spPr>
        <p:txBody>
          <a:bodyPr wrap="square" lIns="0" tIns="0" rIns="0" bIns="0" rtlCol="0" anchor="ctr">
            <a:noAutofit/>
          </a:bodyPr>
          <a:lstStyle/>
          <a:p>
            <a:pPr algn="l">
              <a:spcBef>
                <a:spcPts val="0"/>
              </a:spcBef>
              <a:spcAft>
                <a:spcPts val="300"/>
              </a:spcAft>
              <a:buNone/>
            </a:pPr>
            <a:r>
              <a:rPr lang="en-US" sz="1600" b="1" i="0" dirty="0">
                <a:solidFill>
                  <a:srgbClr val="262626"/>
                </a:solidFill>
                <a:latin typeface="Calibri"/>
                <a:cs typeface="Calibri"/>
              </a:rPr>
              <a:t>Compression &amp; Encryption</a:t>
            </a:r>
          </a:p>
          <a:p>
            <a:pPr algn="l">
              <a:lnSpc>
                <a:spcPct val="100000"/>
              </a:lnSpc>
              <a:spcBef>
                <a:spcPts val="0"/>
              </a:spcBef>
              <a:spcAft>
                <a:spcPts val="0"/>
              </a:spcAft>
              <a:buNone/>
            </a:pPr>
            <a:r>
              <a:rPr lang="en-US" sz="1400" b="0" i="0" dirty="0">
                <a:solidFill>
                  <a:srgbClr val="595959"/>
                </a:solidFill>
                <a:latin typeface="Calibri"/>
                <a:cs typeface="Calibri"/>
              </a:rPr>
              <a:t>Reduce backup size and protect sensitive data</a:t>
            </a:r>
          </a:p>
        </p:txBody>
      </p:sp>
      <p:sp>
        <p:nvSpPr>
          <p:cNvPr id="20" name="Future Card 4"/>
          <p:cNvSpPr/>
          <p:nvPr/>
        </p:nvSpPr>
        <p:spPr>
          <a:xfrm>
            <a:off x="7375000" y="4800000"/>
            <a:ext cx="3975000" cy="1150000"/>
          </a:xfrm>
          <a:prstGeom prst="roundRect">
            <a:avLst>
              <a:gd name="adj" fmla="val 5000"/>
            </a:avLst>
          </a:prstGeom>
          <a:solidFill>
            <a:srgbClr val="FFFFFF"/>
          </a:solidFill>
          <a:ln w="9525">
            <a:solidFill>
              <a:srgbClr val="D9D9D9"/>
            </a:solidFill>
          </a:ln>
          <a:effectLst>
            <a:outerShdw blurRad="76200" dist="19050" dir="5400000" algn="t" rotWithShape="0">
              <a:srgbClr val="000000">
                <a:alpha val="14000"/>
              </a:srgbClr>
            </a:outerShdw>
          </a:effectLst>
        </p:spPr>
        <p:txBody>
          <a:bodyPr wrap="square" lIns="0" tIns="0" rIns="0" bIns="0" rtlCol="0" anchor="t">
            <a:noAutofit/>
          </a:bodyPr>
          <a:lstStyle/>
          <a:p>
            <a:endParaRPr lang="en-US"/>
          </a:p>
        </p:txBody>
      </p:sp>
      <p:sp>
        <p:nvSpPr>
          <p:cNvPr id="21" name="Icon circle"/>
          <p:cNvSpPr/>
          <p:nvPr/>
        </p:nvSpPr>
        <p:spPr>
          <a:xfrm>
            <a:off x="7575000" y="5115000"/>
            <a:ext cx="520000" cy="520000"/>
          </a:xfrm>
          <a:prstGeom prst="ellipse">
            <a:avLst/>
          </a:prstGeom>
          <a:solidFill>
            <a:srgbClr val="002060"/>
          </a:solidFill>
          <a:ln>
            <a:noFill/>
          </a:ln>
        </p:spPr>
        <p:txBody>
          <a:bodyPr wrap="square" lIns="0" tIns="0" rIns="0" bIns="0" rtlCol="0" anchor="t">
            <a:noAutofit/>
          </a:bodyPr>
          <a:lstStyle/>
          <a:p>
            <a:endParaRPr lang="en-US"/>
          </a:p>
        </p:txBody>
      </p:sp>
      <p:pic>
        <p:nvPicPr>
          <p:cNvPr id="22" name="Icon FiMonitor" descr="GUI Front-end"/>
          <p:cNvPicPr>
            <a:picLocks noChangeAspect="1"/>
          </p:cNvPicPr>
          <p:nvPr/>
        </p:nvPicPr>
        <p:blipFill>
          <a:blip r:embed="rId6"/>
          <a:stretch>
            <a:fillRect/>
          </a:stretch>
        </p:blipFill>
        <p:spPr>
          <a:xfrm>
            <a:off x="7699800" y="5239800"/>
            <a:ext cx="270400" cy="270400"/>
          </a:xfrm>
          <a:prstGeom prst="rect">
            <a:avLst/>
          </a:prstGeom>
        </p:spPr>
      </p:pic>
      <p:sp>
        <p:nvSpPr>
          <p:cNvPr id="23" name="Future Text 4"/>
          <p:cNvSpPr txBox="1"/>
          <p:nvPr/>
        </p:nvSpPr>
        <p:spPr>
          <a:xfrm>
            <a:off x="8275000" y="4800000"/>
            <a:ext cx="2975000" cy="1150000"/>
          </a:xfrm>
          <a:prstGeom prst="rect">
            <a:avLst/>
          </a:prstGeom>
          <a:noFill/>
          <a:ln>
            <a:noFill/>
          </a:ln>
        </p:spPr>
        <p:txBody>
          <a:bodyPr wrap="square" lIns="0" tIns="0" rIns="0" bIns="0" rtlCol="0" anchor="ctr">
            <a:noAutofit/>
          </a:bodyPr>
          <a:lstStyle/>
          <a:p>
            <a:pPr algn="l">
              <a:spcBef>
                <a:spcPts val="0"/>
              </a:spcBef>
              <a:spcAft>
                <a:spcPts val="300"/>
              </a:spcAft>
              <a:buNone/>
            </a:pPr>
            <a:r>
              <a:rPr lang="en-US" sz="1600" b="1" i="0" dirty="0">
                <a:solidFill>
                  <a:srgbClr val="262626"/>
                </a:solidFill>
                <a:latin typeface="Calibri"/>
                <a:cs typeface="Calibri"/>
              </a:rPr>
              <a:t>GUI Front-end</a:t>
            </a:r>
          </a:p>
          <a:p>
            <a:pPr algn="l">
              <a:lnSpc>
                <a:spcPct val="100000"/>
              </a:lnSpc>
              <a:spcBef>
                <a:spcPts val="0"/>
              </a:spcBef>
              <a:spcAft>
                <a:spcPts val="0"/>
              </a:spcAft>
              <a:buNone/>
            </a:pPr>
            <a:r>
              <a:rPr lang="en-US" sz="1400" b="0" i="0" dirty="0">
                <a:solidFill>
                  <a:srgbClr val="595959"/>
                </a:solidFill>
                <a:latin typeface="Calibri"/>
                <a:cs typeface="Calibri"/>
              </a:rPr>
              <a:t>Wrap the tool in a simple desktop interface</a:t>
            </a:r>
          </a:p>
        </p:txBody>
      </p:sp>
      <p:sp>
        <p:nvSpPr>
          <p:cNvPr id="24" name="Date Placeholder"/>
          <p:cNvSpPr>
            <a:spLocks noGrp="1"/>
          </p:cNvSpPr>
          <p:nvPr>
            <p:ph type="dt" sz="half" idx="10"/>
          </p:nvPr>
        </p:nvSpPr>
        <p:spPr/>
        <p:txBody>
          <a:bodyPr/>
          <a:lstStyle/>
          <a:p>
            <a:fld id="{32179801-AD4A-4368-9C25-F8FFDCCA9D13}" type="datetime1">
              <a:rPr lang="en-US"/>
              <a:t>9/19/2026</a:t>
            </a:fld>
            <a:endParaRPr lang="en-US"/>
          </a:p>
        </p:txBody>
      </p:sp>
      <p:sp>
        <p:nvSpPr>
          <p:cNvPr id="25" name="Slide Number Placeholder"/>
          <p:cNvSpPr>
            <a:spLocks noGrp="1"/>
          </p:cNvSpPr>
          <p:nvPr>
            <p:ph type="sldNum" sz="quarter" idx="12"/>
          </p:nvPr>
        </p:nvSpPr>
        <p:spPr/>
        <p:txBody>
          <a:bodyPr/>
          <a:lstStyle/>
          <a:p>
            <a:fld id="{7EED5C5B-9EF4-44F9-8A5E-F9CA765F3D63}" type="slidenum">
              <a:rPr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ank You Banner"/>
          <p:cNvSpPr/>
          <p:nvPr/>
        </p:nvSpPr>
        <p:spPr>
          <a:xfrm>
            <a:off x="4375000" y="1500000"/>
            <a:ext cx="5800000" cy="1500000"/>
          </a:xfrm>
          <a:prstGeom prst="roundRect">
            <a:avLst>
              <a:gd name="adj" fmla="val 16667"/>
            </a:avLst>
          </a:prstGeom>
          <a:solidFill>
            <a:srgbClr val="C00000"/>
          </a:solidFill>
          <a:ln>
            <a:noFill/>
          </a:ln>
        </p:spPr>
        <p:txBody>
          <a:bodyPr wrap="square" lIns="0" tIns="0" rIns="0" bIns="0" rtlCol="0" anchor="ctr">
            <a:noAutofit/>
          </a:bodyPr>
          <a:lstStyle/>
          <a:p>
            <a:pPr algn="ctr">
              <a:spcBef>
                <a:spcPts val="0"/>
              </a:spcBef>
              <a:spcAft>
                <a:spcPts val="0"/>
              </a:spcAft>
              <a:buNone/>
            </a:pPr>
            <a:r>
              <a:rPr lang="en-US" sz="4800" b="1" i="0" dirty="0">
                <a:solidFill>
                  <a:srgbClr val="FFFFFF"/>
                </a:solidFill>
                <a:latin typeface="Calibri"/>
                <a:cs typeface="Calibri"/>
              </a:rPr>
              <a:t>Thank You</a:t>
            </a:r>
          </a:p>
        </p:txBody>
      </p:sp>
      <p:sp>
        <p:nvSpPr>
          <p:cNvPr id="3" name="Questions"/>
          <p:cNvSpPr txBox="1"/>
          <p:nvPr/>
        </p:nvSpPr>
        <p:spPr>
          <a:xfrm>
            <a:off x="3200000" y="3250000"/>
            <a:ext cx="8150000" cy="550000"/>
          </a:xfrm>
          <a:prstGeom prst="rect">
            <a:avLst/>
          </a:prstGeom>
          <a:noFill/>
          <a:ln>
            <a:noFill/>
          </a:ln>
        </p:spPr>
        <p:txBody>
          <a:bodyPr wrap="square" lIns="0" tIns="0" rIns="0" bIns="0" rtlCol="0" anchor="ctr">
            <a:noAutofit/>
          </a:bodyPr>
          <a:lstStyle/>
          <a:p>
            <a:pPr algn="ctr">
              <a:spcBef>
                <a:spcPts val="0"/>
              </a:spcBef>
              <a:spcAft>
                <a:spcPts val="0"/>
              </a:spcAft>
              <a:buNone/>
            </a:pPr>
            <a:r>
              <a:rPr lang="en-US" sz="2600" b="1" i="0" dirty="0">
                <a:solidFill>
                  <a:srgbClr val="002060"/>
                </a:solidFill>
                <a:latin typeface="Calibri"/>
                <a:cs typeface="Calibri"/>
              </a:rPr>
              <a:t>Questions &amp; Discussion</a:t>
            </a:r>
          </a:p>
        </p:txBody>
      </p:sp>
      <p:sp>
        <p:nvSpPr>
          <p:cNvPr id="4" name="Closing Details"/>
          <p:cNvSpPr txBox="1"/>
          <p:nvPr/>
        </p:nvSpPr>
        <p:spPr>
          <a:xfrm>
            <a:off x="3200000" y="3950000"/>
            <a:ext cx="8150000" cy="1600000"/>
          </a:xfrm>
          <a:prstGeom prst="rect">
            <a:avLst/>
          </a:prstGeom>
          <a:noFill/>
          <a:ln>
            <a:noFill/>
          </a:ln>
        </p:spPr>
        <p:txBody>
          <a:bodyPr wrap="square" lIns="0" tIns="0" rIns="0" bIns="0" rtlCol="0" anchor="t">
            <a:noAutofit/>
          </a:bodyPr>
          <a:lstStyle/>
          <a:p>
            <a:pPr algn="ctr">
              <a:spcBef>
                <a:spcPts val="0"/>
              </a:spcBef>
              <a:spcAft>
                <a:spcPts val="800"/>
              </a:spcAft>
              <a:buNone/>
            </a:pPr>
            <a:r>
              <a:rPr lang="en-US" sz="1600" b="0" i="0" dirty="0">
                <a:solidFill>
                  <a:srgbClr val="262626"/>
                </a:solidFill>
                <a:latin typeface="Calibri"/>
                <a:cs typeface="Calibri"/>
              </a:rPr>
              <a:t>Linux File Backup and Synchronization System Using System Calls</a:t>
            </a:r>
          </a:p>
          <a:p>
            <a:pPr algn="ctr">
              <a:spcBef>
                <a:spcPts val="0"/>
              </a:spcBef>
              <a:spcAft>
                <a:spcPts val="400"/>
              </a:spcAft>
              <a:buNone/>
            </a:pPr>
            <a:r>
              <a:rPr lang="en-US" sz="1600" b="0" i="0" dirty="0">
                <a:solidFill>
                  <a:srgbClr val="595959"/>
                </a:solidFill>
                <a:latin typeface="Calibri"/>
                <a:cs typeface="Calibri"/>
              </a:rPr>
              <a:t>Team No. 12  ·  Sai Krishna  ·  Navaneeth  ·  Chaithanya</a:t>
            </a:r>
          </a:p>
          <a:p>
            <a:pPr algn="ctr">
              <a:spcBef>
                <a:spcPts val="0"/>
              </a:spcBef>
              <a:spcAft>
                <a:spcPts val="0"/>
              </a:spcAft>
              <a:buNone/>
            </a:pPr>
            <a:r>
              <a:rPr lang="en-US" sz="1600" b="0" i="0" dirty="0">
                <a:solidFill>
                  <a:srgbClr val="595959"/>
                </a:solidFill>
                <a:latin typeface="Calibri"/>
                <a:cs typeface="Calibri"/>
              </a:rPr>
              <a:t>Faculty: Raghupathi M, CSE Department</a:t>
            </a:r>
          </a:p>
        </p:txBody>
      </p:sp>
      <p:sp>
        <p:nvSpPr>
          <p:cNvPr id="5" name="Date Placeholder"/>
          <p:cNvSpPr>
            <a:spLocks noGrp="1"/>
          </p:cNvSpPr>
          <p:nvPr>
            <p:ph type="dt" sz="half" idx="10"/>
          </p:nvPr>
        </p:nvSpPr>
        <p:spPr/>
        <p:txBody>
          <a:bodyPr/>
          <a:lstStyle/>
          <a:p>
            <a:fld id="{32179801-AD4A-4368-9C25-F8FFDCCA9D13}" type="datetime1">
              <a:rPr lang="en-US"/>
              <a:t>9/19/2026</a:t>
            </a:fld>
            <a:endParaRPr lang="en-US"/>
          </a:p>
        </p:txBody>
      </p:sp>
      <p:sp>
        <p:nvSpPr>
          <p:cNvPr id="6" name="Slide Number Placeholder"/>
          <p:cNvSpPr>
            <a:spLocks noGrp="1"/>
          </p:cNvSpPr>
          <p:nvPr>
            <p:ph type="sldNum" sz="quarter" idx="12"/>
          </p:nvPr>
        </p:nvSpPr>
        <p:spPr/>
        <p:txBody>
          <a:bodyPr/>
          <a:lstStyle/>
          <a:p>
            <a:fld id="{7EED5C5B-9EF4-44F9-8A5E-F9CA765F3D63}" type="slidenum">
              <a:rPr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8</Notes>
  <HiddenSlides>0</HiddenSlides>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File Backup and Synchronization System Using System Calls - Review-I</dc:title>
  <dc:creator>Sirisha Devi</dc:creator>
  <cp:lastModifiedBy>DELL</cp:lastModifiedBy>
  <cp:revision>23</cp:revision>
  <dcterms:created xsi:type="dcterms:W3CDTF">2026-08-31T05:18:20Z</dcterms:created>
  <dcterms:modified xsi:type="dcterms:W3CDTF">2026-09-01T03:58:43Z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2E321512259BCFD0FA0C956AC94F79BD_43</vt:lpwstr>
  </property>
  <property fmtid="{D5CDD505-2E9C-101B-9397-08002B2CF9AE}" pid="3" name="KSOProductBuildVer">
    <vt:lpwstr>1033-12.1.26050.26050</vt:lpwstr>
  </property>
</Properties>
</file>