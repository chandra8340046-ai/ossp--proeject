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Time Taken (seconds) — Full vs. Incremental Sync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 backup (cp -r style)</c:v>
                </c:pt>
              </c:strCache>
            </c:strRef>
          </c:tx>
          <c:spPr>
            <a:solidFill>
              <a:srgbClr val="6E76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50 files</c:v>
                  </c:pt>
                  <c:pt idx="1">
                    <c:v>100 files</c:v>
                  </c:pt>
                  <c:pt idx="2">
                    <c:v>250 files</c:v>
                  </c:pt>
                  <c:pt idx="3">
                    <c:v>500 files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</c:v>
                </c:pt>
                <c:pt idx="1">
                  <c:v>0.35</c:v>
                </c:pt>
                <c:pt idx="2">
                  <c:v>0.9</c:v>
                </c:pt>
                <c:pt idx="3">
                  <c:v>1.85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sync (changed files only)</c:v>
                </c:pt>
              </c:strCache>
            </c:strRef>
          </c:tx>
          <c:spPr>
            <a:solidFill>
              <a:srgbClr val="39D3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50 files</c:v>
                  </c:pt>
                  <c:pt idx="1">
                    <c:v>100 files</c:v>
                  </c:pt>
                  <c:pt idx="2">
                    <c:v>250 files</c:v>
                  </c:pt>
                  <c:pt idx="3">
                    <c:v>500 files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0.05</c:v>
                </c:pt>
                <c:pt idx="1">
                  <c:v>0.08</c:v>
                </c:pt>
                <c:pt idx="2">
                  <c:v>0.13</c:v>
                </c:pt>
                <c:pt idx="3">
                  <c:v>0.22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0363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E7681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E7681"/>
                    </a:solidFill>
                    <a:latin typeface="Arial"/>
                  </a:rPr>
                  <a:t>Seconds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1D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C9D1D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502920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886968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1271016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1655064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02368" y="502920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02368" y="886968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802368" y="1271016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02368" y="1655064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86416" y="502920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86416" y="886968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186416" y="1271016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86416" y="1655064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70464" y="502920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886968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570464" y="1271016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70464" y="1655064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954512" y="502920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954512" y="886968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954512" y="1271016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954512" y="1655064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502920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338560" y="886968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338560" y="1271016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338560" y="1655064"/>
            <a:ext cx="45720" cy="45720"/>
          </a:xfrm>
          <a:prstGeom prst="ellipse">
            <a:avLst/>
          </a:prstGeom>
          <a:solidFill>
            <a:srgbClr val="39D353">
              <a:alpha val="45000"/>
            </a:srgbClr>
          </a:solidFill>
          <a:ln/>
        </p:spPr>
      </p:sp>
      <p:pic>
        <p:nvPicPr>
          <p:cNvPr id="26" name="Image 0" descr="icons/terminal_39D3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80160" y="5669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PROJECT REVIEW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280160" y="9326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(25CS2104E) · 2026–27, Term-I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File Backup and</a:t>
            </a:r>
            <a:endParaRPr lang="en-US" sz="4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System</a:t>
            </a:r>
            <a:endParaRPr lang="en-US" sz="4600" dirty="0"/>
          </a:p>
        </p:txBody>
      </p:sp>
      <p:sp>
        <p:nvSpPr>
          <p:cNvPr id="30" name="Text 27"/>
          <p:cNvSpPr/>
          <p:nvPr/>
        </p:nvSpPr>
        <p:spPr>
          <a:xfrm>
            <a:off x="640080" y="3794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39D3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System Calls</a:t>
            </a:r>
            <a:endParaRPr lang="en-US" sz="2600" dirty="0"/>
          </a:p>
        </p:txBody>
      </p:sp>
      <p:sp>
        <p:nvSpPr>
          <p:cNvPr id="31" name="Shape 28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/>
        </p:spPr>
      </p:sp>
      <p:sp>
        <p:nvSpPr>
          <p:cNvPr id="32" name="Text 29"/>
          <p:cNvSpPr/>
          <p:nvPr/>
        </p:nvSpPr>
        <p:spPr>
          <a:xfrm>
            <a:off x="914400" y="4892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No. 12 · Section 22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14400" y="5257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Krishna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2520090156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931920" y="5257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Navaneeth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2520090218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949440" y="5257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Chaithanya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2520090099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Ragupathi.M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/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Linux program that touches a file relies on a small set of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interface between user-space applications and the kernel.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6F8FA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880360"/>
            <a:ext cx="685800" cy="685800"/>
          </a:xfrm>
          <a:prstGeom prst="ellipse">
            <a:avLst/>
          </a:prstGeom>
          <a:solidFill>
            <a:srgbClr val="E6F9EC"/>
          </a:solidFill>
          <a:ln w="15875">
            <a:solidFill>
              <a:srgbClr val="39D353"/>
            </a:solidFill>
            <a:prstDash val="solid"/>
          </a:ln>
        </p:spPr>
      </p:sp>
      <p:pic>
        <p:nvPicPr>
          <p:cNvPr id="7" name="Image 0" descr="icons/layers_2EA0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305409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033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 vs kernel space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43484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request file access through a controlled kernel interface, not direct hardware access.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6060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6F8FA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880360"/>
            <a:ext cx="685800" cy="685800"/>
          </a:xfrm>
          <a:prstGeom prst="ellipse">
            <a:avLst/>
          </a:prstGeom>
          <a:solidFill>
            <a:srgbClr val="E6F9EC"/>
          </a:solidFill>
          <a:ln w="15875">
            <a:solidFill>
              <a:srgbClr val="39D353"/>
            </a:solidFill>
            <a:prstDash val="solid"/>
          </a:ln>
        </p:spPr>
      </p:sp>
      <p:pic>
        <p:nvPicPr>
          <p:cNvPr id="12" name="Image 1" descr="icons/shield_2EA0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305409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7033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backups matter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443484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copy of important data is fragile — accidental deletion or corruption can mean permanent loss.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46720" y="26060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6F8FA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2880360"/>
            <a:ext cx="685800" cy="685800"/>
          </a:xfrm>
          <a:prstGeom prst="ellipse">
            <a:avLst/>
          </a:prstGeom>
          <a:solidFill>
            <a:srgbClr val="E6F9EC"/>
          </a:solidFill>
          <a:ln w="15875">
            <a:solidFill>
              <a:srgbClr val="39D353"/>
            </a:solidFill>
            <a:prstDash val="solid"/>
          </a:ln>
        </p:spPr>
      </p:sp>
      <p:pic>
        <p:nvPicPr>
          <p:cNvPr id="17" name="Image 2" descr="icons/code_2EA04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305409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7033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it at the syscall level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443484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directly with open(), read(), stat() and friends makes OS concepts concrete instead of abstract.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246120"/>
          </a:xfrm>
          <a:prstGeom prst="roundRect">
            <a:avLst>
              <a:gd name="adj" fmla="val 2254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361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5361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0" y="15361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rsync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06240" y="2011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Delta-transfer algorithm; highly efficient for large, mostly-unchanged files.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63840" y="2011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internals; not built to teach raw system-call usage.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85292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-r / tar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06240" y="285292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POSIX-standard, ships with every Linux distro.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0" y="285292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detection — always does a full copy, no real sync.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694176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(Drive, Time Machine)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06240" y="369417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continuous, user-friendly.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0" y="369417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Opaque, closed-source, and network-dependent — no OS-level insight.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18" name="Image 0" descr="icons/search_39D3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2064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54480" y="4937760"/>
            <a:ext cx="9692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identified: existing tools hide their system-call layer. This project builds a minimal, transparent backup/sync utility directly on open(), read(), write(), stat() and POSIX directory APIs — useful both as a practical tool and as a teaching example.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backups are repetitive and error-prone, often leaving files outdated or missing. A reliable Linux-based tool is needed to automatically back up and synchronize a directory using core system calls.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0D1117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3429000"/>
            <a:ext cx="457200" cy="45720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9" name="Image 0" descr="icons/check_39D3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352958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30632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Linux backup app in C using system calls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72200" y="30632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0D1117"/>
          </a:solidFill>
          <a:ln/>
        </p:spPr>
      </p:sp>
      <p:sp>
        <p:nvSpPr>
          <p:cNvPr id="12" name="Shape 9"/>
          <p:cNvSpPr/>
          <p:nvPr/>
        </p:nvSpPr>
        <p:spPr>
          <a:xfrm>
            <a:off x="6428232" y="3429000"/>
            <a:ext cx="457200" cy="45720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13" name="Image 1" descr="icons/check_39D3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35295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30632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safely via file descriptors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" y="44805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0D1117"/>
          </a:solidFill>
          <a:ln/>
        </p:spPr>
      </p:sp>
      <p:sp>
        <p:nvSpPr>
          <p:cNvPr id="16" name="Shape 12"/>
          <p:cNvSpPr/>
          <p:nvPr/>
        </p:nvSpPr>
        <p:spPr>
          <a:xfrm>
            <a:off x="896112" y="4846320"/>
            <a:ext cx="457200" cy="45720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17" name="Image 2" descr="icons/check_39D35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94690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4805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synchronize changed files using metadata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172200" y="44805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0D111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8232" y="4846320"/>
            <a:ext cx="457200" cy="45720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21" name="Image 3" descr="icons/check_39D35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9469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4805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permissions and user/kernel-space interaction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81912"/>
            <a:ext cx="512064" cy="512064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6" name="Image 0" descr="icons/monitor_39D3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6916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4904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Application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183794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parsing, orchestration, status/error reporting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2368296"/>
            <a:ext cx="1042416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43000" y="2532888"/>
            <a:ext cx="512064" cy="512064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11" name="Image 1" descr="icons/settings_39D3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264261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2441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Layer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920240" y="27889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scan · metadata compare · copy decision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097280" y="3319272"/>
            <a:ext cx="996696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371600" y="3483864"/>
            <a:ext cx="512064" cy="512064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16" name="Image 2" descr="icons/terminal_39D35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359359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33924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 Layer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2148840" y="373989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· read() · write() · close() · stat() · opendir()/readdir()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325880" y="4270248"/>
            <a:ext cx="950976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600200" y="4434840"/>
            <a:ext cx="512064" cy="512064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21" name="Image 3" descr="icons/server_39D35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216" y="454456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377440" y="4343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2377440" y="46908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actual file I/O, permission checks, and scheduling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1554480" y="5221224"/>
            <a:ext cx="905256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828800" y="5385816"/>
            <a:ext cx="512064" cy="512064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26" name="Image 4" descr="icons/database_39D35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6816" y="54955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606040" y="52943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2606040" y="564184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directory  ↔  Backup directory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6F8FA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5" name="Image 0" descr="icons/cpu_2EA0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105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Any x86_64 / ARM64 machine capable of running Linux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1729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Minimum 2 GB RAM, 1 GB free disk space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83133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Source and backup locations (local disk or mounted drive)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17920" y="146304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0D1117"/>
          </a:solidFill>
          <a:ln/>
        </p:spPr>
      </p:sp>
      <p:pic>
        <p:nvPicPr>
          <p:cNvPr id="11" name="Image 1" descr="icons/package_39D3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105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514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Ubuntu / any Linux distribution (kernel 5.x+)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92240" y="30815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GCC compiler (C99 or later)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492240" y="36484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VS Code / Vim for editing source files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492240" y="421538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 &amp; GitHub for version control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492240" y="47823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Make (optional, for build automation)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 Project Setup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Ubuntu 22.04 LTS (Linux kernel)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GCC 11+ with -Wall -Wextra flags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VS Code with C/C++ extension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 for version control, GitHub for hosting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69164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1112" y="169164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867144" y="169164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05740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backupsync/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main.c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scan.c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compare.c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copy.c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include/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backupsync.h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backup/        (target dir)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Makefile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Modules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E6F9EC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7" name="Image 0" descr="icons/list_2EA0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34086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80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Parsing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2278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source &amp; backup paths from the command line and validates them.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5087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6280" y="1645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572000" y="2194560"/>
            <a:ext cx="594360" cy="594360"/>
          </a:xfrm>
          <a:prstGeom prst="ellipse">
            <a:avLst/>
          </a:prstGeom>
          <a:solidFill>
            <a:srgbClr val="E6F9EC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13" name="Image 1" descr="icons/folder_2EA0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34086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880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Traversal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6280" y="32278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source tree using opendir()/readdir() to list all files.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5087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0" y="1645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275320" y="2194560"/>
            <a:ext cx="594360" cy="594360"/>
          </a:xfrm>
          <a:prstGeom prst="ellipse">
            <a:avLst/>
          </a:prstGeom>
          <a:solidFill>
            <a:srgbClr val="E6F9EC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19" name="Image 2" descr="icons/search_2EA04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34086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2880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Comparison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0" y="32278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stat() to compare size and modification time against the backup copy.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39776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296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868680" y="4663440"/>
            <a:ext cx="594360" cy="594360"/>
          </a:xfrm>
          <a:prstGeom prst="ellipse">
            <a:avLst/>
          </a:prstGeom>
          <a:solidFill>
            <a:srgbClr val="E6F9EC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25" name="Image 3" descr="icons/code_2EA04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80974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22960" y="5349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Copy Engine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22960" y="569671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data with open(), read(), write(), close() using file descriptors.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43400" y="39776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52628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4572000" y="4663440"/>
            <a:ext cx="594360" cy="594360"/>
          </a:xfrm>
          <a:prstGeom prst="ellipse">
            <a:avLst/>
          </a:prstGeom>
          <a:solidFill>
            <a:srgbClr val="E6F9EC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31" name="Image 4" descr="icons/alert_2EA04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4809744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26280" y="5349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Logging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526280" y="569671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missing files, permission errors, and displays a run summary.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/ Method Used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309360" cy="4572000"/>
          </a:xfrm>
          <a:prstGeom prst="roundRect">
            <a:avLst>
              <a:gd name="adj" fmla="val 2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PSEUDOCODE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5760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file F in source_dir: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path_b = backup_dir + F.name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not exists(path_b):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copy(F, path_b)        # new file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s1 = stat(F)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s2 = stat(path_b)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if s1.mtime &gt; s2.mtime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 s1.size != s2.size: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copy(F, path_b)     # changed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else: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skip(F)             # unchanged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summary(copied, skipped, errors)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1417320"/>
            <a:ext cx="4297680" cy="4572000"/>
          </a:xfrm>
          <a:prstGeom prst="roundRect">
            <a:avLst>
              <a:gd name="adj" fmla="val 2128"/>
            </a:avLst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16276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0" y="2103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size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241401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bytes per read()/write() cycle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0" y="30632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keys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0" y="337413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st_size and st_mtime from stat()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0" y="40233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0" y="433425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One-way: source → backup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0" y="4983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0" y="529437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or size-mismatched file always wins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Code / Key Snippets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881360" cy="5166360"/>
          </a:xfrm>
          <a:prstGeom prst="roundRect">
            <a:avLst>
              <a:gd name="adj" fmla="val 177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6304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46304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146304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399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copy_file.c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102412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copy_file(const char *src, const char *dst)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in = open(src, O_RDONLY);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out = open(dst, O_WRONLY | O_CREAT | O_TRUNC, 0644);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 &lt; 0 || out &lt; 0) { perror("open"); return -1;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buf[4096];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ssize_t n;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((n = read(in, buf, sizeof(buf))) &gt; 0)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(write(out, buf, n) != n)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perror("write"); break;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close(in);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close(out);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Validation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11 / 16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4846320"/>
        </p:xfrm>
        <a:graphic>
          <a:graphicData uri="http://schemas.openxmlformats.org/drawingml/2006/table">
            <a:tbl>
              <a:tblPr/>
              <a:tblGrid>
                <a:gridCol w="3566160"/>
                <a:gridCol w="4114800"/>
                <a:gridCol w="32004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Expected Output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Actual Result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D1D9"/>
                          </a:solidFill>
                        </a:rPr>
                        <a:t>New file added to source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D1D9"/>
                          </a:solidFill>
                        </a:rPr>
                        <a:t>File appears in backup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9D353"/>
                          </a:solidFill>
                        </a:rPr>
                        <a:t>Copied — Pass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D1D9"/>
                          </a:solidFill>
                        </a:rPr>
                        <a:t>Existing file modified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D1D9"/>
                          </a:solidFill>
                        </a:rPr>
                        <a:t>Updated copy replaces old backup file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9D353"/>
                          </a:solidFill>
                        </a:rPr>
                        <a:t>Detected via stat(), re-copied — Pass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D1D9"/>
                          </a:solidFill>
                        </a:rPr>
                        <a:t>Unchanged file re-run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D1D9"/>
                          </a:solidFill>
                        </a:rPr>
                        <a:t>File is skipped, not re-copied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9D353"/>
                          </a:solidFill>
                        </a:rPr>
                        <a:t>Skipped correctly — Pass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D1D9"/>
                          </a:solidFill>
                        </a:rPr>
                        <a:t>Invalid / missing source path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D1D9"/>
                          </a:solidFill>
                        </a:rPr>
                        <a:t>Program reports a clear error and exits safely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9D353"/>
                          </a:solidFill>
                        </a:rPr>
                        <a:t>Error handled — Pass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D1D9"/>
                          </a:solidFill>
                        </a:rPr>
                        <a:t>Permission-denied file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D1D9"/>
                          </a:solidFill>
                        </a:rPr>
                        <a:t>Error logged, program continues with remaining files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9D353"/>
                          </a:solidFill>
                        </a:rPr>
                        <a:t>Logged, no crash — Pass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D1D9"/>
                          </a:solidFill>
                        </a:rPr>
                        <a:t>Empty source directory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D1D9"/>
                          </a:solidFill>
                        </a:rPr>
                        <a:t>Program reports “nothing to sync”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9D353"/>
                          </a:solidFill>
                        </a:rPr>
                        <a:t>Handled — Pass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12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6309360" cy="4617720"/>
          </a:xfrm>
          <a:prstGeom prst="roundRect">
            <a:avLst>
              <a:gd name="adj" fmla="val 198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544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5544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15544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5760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./backupsync ~/docs ~/backup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Scanning source directory...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files found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Comparing metadata (stat)...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changed, 119 unchanged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Copying updated files...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thesis_draft.docx   [OK]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budget_2026.xlsx    [OK]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notes_week12.txt    [OK]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6 more files    [OK]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Synchronization complete.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copied, 119 skipped, 0 errors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Elapsed time: 0.42s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23760" y="1371600"/>
            <a:ext cx="4297680" cy="4617720"/>
          </a:xfrm>
          <a:prstGeom prst="roundRect">
            <a:avLst>
              <a:gd name="adj" fmla="val 2128"/>
            </a:avLst>
          </a:prstGeom>
          <a:solidFill>
            <a:srgbClr val="F6F8FA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 Summary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98080" y="2651760"/>
            <a:ext cx="3749040" cy="0"/>
          </a:xfrm>
          <a:prstGeom prst="line">
            <a:avLst/>
          </a:prstGeom>
          <a:noFill/>
          <a:ln w="12700">
            <a:solidFill>
              <a:srgbClr val="E2E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scanned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0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A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0" y="3429000"/>
            <a:ext cx="3749040" cy="0"/>
          </a:xfrm>
          <a:prstGeom prst="line">
            <a:avLst/>
          </a:prstGeom>
          <a:noFill/>
          <a:ln w="12700">
            <a:solidFill>
              <a:srgbClr val="E2E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copied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0" y="2880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A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8080" y="4206240"/>
            <a:ext cx="3749040" cy="0"/>
          </a:xfrm>
          <a:prstGeom prst="line">
            <a:avLst/>
          </a:prstGeom>
          <a:noFill/>
          <a:ln w="12700">
            <a:solidFill>
              <a:srgbClr val="E2E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skipped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0" y="3657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A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4983480"/>
            <a:ext cx="3749040" cy="0"/>
          </a:xfrm>
          <a:prstGeom prst="line">
            <a:avLst/>
          </a:prstGeom>
          <a:noFill/>
          <a:ln w="12700">
            <a:solidFill>
              <a:srgbClr val="E2E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4434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0" y="4434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A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5760720"/>
            <a:ext cx="3749040" cy="0"/>
          </a:xfrm>
          <a:prstGeom prst="line">
            <a:avLst/>
          </a:prstGeom>
          <a:noFill/>
          <a:ln w="12700">
            <a:solidFill>
              <a:srgbClr val="E2E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5212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84080" y="5212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A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0.42 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13 /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time drops sharply after the first run, since only changed files are re-copied.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55448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554480"/>
            <a:ext cx="3977640" cy="4480560"/>
          </a:xfrm>
          <a:prstGeom prst="roundRect">
            <a:avLst>
              <a:gd name="adj" fmla="val 2299"/>
            </a:avLst>
          </a:prstGeom>
          <a:solidFill>
            <a:srgbClr val="161B22"/>
          </a:solidFill>
          <a:ln/>
        </p:spPr>
      </p:sp>
      <p:sp>
        <p:nvSpPr>
          <p:cNvPr id="7" name="Text 4"/>
          <p:cNvSpPr/>
          <p:nvPr/>
        </p:nvSpPr>
        <p:spPr>
          <a:xfrm>
            <a:off x="781812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18120" y="228600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Incremental sync stays near-flat as file count grows — only changed files are touched.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18120" y="333756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Full-copy time grows roughly linearly with file count.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18120" y="438912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stat() comparison overhead is small (microseconds per file) compared to actual I/O.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18120" y="544068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Buffer size (4096 B) keeps memory use constant regardless of file size.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14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E6F9EC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5" name="Image 0" descr="icons/check_2EA0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64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Uses real system calls end-to-end — no hidden library magic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29900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Correctly detects and skips unchanged files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364845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Simple, readable C codebase (~300 lines)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430682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Graceful error handling for missing files &amp; permissions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17920" y="141732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1F0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2" name="Image 1" descr="icons/alert_2EA0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764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92240" y="23317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One-way sync only — deleted source files stay in backup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92240" y="29900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Single-threaded; large file sets copy sequentially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492240" y="364845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compression or encryption of backup data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492240" y="430682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sub-directory recursion in the current version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15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/>
        </p:spPr>
      </p:sp>
      <p:pic>
        <p:nvPicPr>
          <p:cNvPr id="5" name="Image 0" descr="icons/flag_39D3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55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21031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implements a working Linux backup and synchronization tool built entirely on POSIX system calls, correctly detecting and copying only changed files while handling errors gracefully — meeting all stated objectives.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11" name="Image 1" descr="icons/gitbranch_39D3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405993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45720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sync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22960" y="5029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handle deletions in both directions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429000" y="37033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57600" y="3931920"/>
            <a:ext cx="502920" cy="50292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16" name="Image 2" descr="icons/cpu_39D35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405993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11880" y="45720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611880" y="5029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copies across multiple files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7033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3931920"/>
            <a:ext cx="502920" cy="50292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21" name="Image 3" descr="icons/shield_39D35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05993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0" y="45720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&amp; encryption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0" y="5029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backup size and protect sensitive data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006840" y="37033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235440" y="3931920"/>
            <a:ext cx="502920" cy="50292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26" name="Image 4" descr="icons/monitor_39D35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405993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89720" y="45720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front-end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189720" y="5029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tool in a simple desktop interface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16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161B22"/>
          </a:solidFill>
          <a:ln/>
        </p:spPr>
      </p:sp>
      <p:pic>
        <p:nvPicPr>
          <p:cNvPr id="5" name="Image 0" descr="icons/bookopen_39D3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276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Love, “Linux System Programming,” 2nd Edition, O’Reilly Media.</a:t>
            </a:r>
            <a:endParaRPr lang="en-US" sz="1300" dirty="0"/>
          </a:p>
        </p:txBody>
      </p:sp>
      <p:pic>
        <p:nvPicPr>
          <p:cNvPr id="7" name="Image 1" descr="icons/bookopen_39D3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305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Kerrisk, “The Linux Programming Interface,” No Starch Press.</a:t>
            </a:r>
            <a:endParaRPr lang="en-US" sz="1300" dirty="0"/>
          </a:p>
        </p:txBody>
      </p:sp>
      <p:pic>
        <p:nvPicPr>
          <p:cNvPr id="9" name="Image 2" descr="icons/bookopen_39D35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9748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6334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man-pages project — open(2), read(2), write(2), stat(2), opendir(3).</a:t>
            </a:r>
            <a:endParaRPr lang="en-US" sz="1300" dirty="0"/>
          </a:p>
        </p:txBody>
      </p:sp>
      <p:pic>
        <p:nvPicPr>
          <p:cNvPr id="11" name="Image 3" descr="icons/bookopen_39D35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31363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Coreutils documentation — cp, tar reference implementations.</a:t>
            </a:r>
            <a:endParaRPr lang="en-US" sz="1300" dirty="0"/>
          </a:p>
        </p:txBody>
      </p:sp>
      <p:pic>
        <p:nvPicPr>
          <p:cNvPr id="13" name="Image 4" descr="icons/bookopen_39D35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03320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80160" y="36393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rsync official documentation, rsync.samba.org.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640080" y="4572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&amp; Discussion</a:t>
            </a:r>
            <a:endParaRPr lang="en-US" sz="2800" dirty="0"/>
          </a:p>
        </p:txBody>
      </p:sp>
      <p:sp>
        <p:nvSpPr>
          <p:cNvPr id="16" name="Text 9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No. 12 · Sai Krishna · Navaneeth · Chaithanya · Faculty: Ragupathi.M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Backup &amp; Synchronization System — Final Review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2026-09-17T07:04:29Z</dcterms:created>
  <dcterms:modified xsi:type="dcterms:W3CDTF">2026-09-17T07:04:29Z</dcterms:modified>
</cp:coreProperties>
</file>